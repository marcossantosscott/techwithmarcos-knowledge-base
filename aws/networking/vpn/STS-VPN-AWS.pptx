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432085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aws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925994"/>
            <a:ext cx="4071938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b="1" spc="-2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AWS Site-to-Site VPN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71500" y="3166104"/>
            <a:ext cx="35718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9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Conectando ambientes On-Premises à AWS com Transit Gateway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469" y="1000125"/>
            <a:ext cx="3571875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Agenda da Apresentação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180505"/>
            <a:ext cx="257175" cy="257175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18050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35831" y="1180505"/>
            <a:ext cx="1679674" cy="222879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 e a Necessidade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71500" y="1580555"/>
            <a:ext cx="257175" cy="257175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58055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35831" y="1580555"/>
            <a:ext cx="1494020" cy="222879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do Laboratório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" y="1980605"/>
            <a:ext cx="257175" cy="257175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" y="198060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35831" y="1980605"/>
            <a:ext cx="1329212" cy="222879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Ambiente On-Premises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1500" y="2380655"/>
            <a:ext cx="257175" cy="257175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238065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935831" y="2380655"/>
            <a:ext cx="860013" cy="222879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Ambiente AWS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71500" y="2780705"/>
            <a:ext cx="257175" cy="257175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" y="278070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35831" y="2780705"/>
            <a:ext cx="1636616" cy="222879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1: Customer Gateway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714875" y="1180505"/>
            <a:ext cx="257175" cy="257175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0" name="Text 17"/>
          <p:cNvSpPr/>
          <p:nvPr/>
        </p:nvSpPr>
        <p:spPr>
          <a:xfrm>
            <a:off x="4714875" y="118050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79206" y="1180505"/>
            <a:ext cx="1472226" cy="222879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2: Site-to-Site VPN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714875" y="1580555"/>
            <a:ext cx="257175" cy="257175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3" name="Text 20"/>
          <p:cNvSpPr/>
          <p:nvPr/>
        </p:nvSpPr>
        <p:spPr>
          <a:xfrm>
            <a:off x="4714875" y="158055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079206" y="1580555"/>
            <a:ext cx="1236594" cy="222879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3: StrongSwan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714875" y="1980605"/>
            <a:ext cx="257175" cy="257175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6" name="Text 23"/>
          <p:cNvSpPr/>
          <p:nvPr/>
        </p:nvSpPr>
        <p:spPr>
          <a:xfrm>
            <a:off x="4714875" y="198060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079206" y="1980605"/>
            <a:ext cx="871984" cy="222879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4: Rotas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714875" y="2380655"/>
            <a:ext cx="257175" cy="257175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9" name="Text 26"/>
          <p:cNvSpPr/>
          <p:nvPr/>
        </p:nvSpPr>
        <p:spPr>
          <a:xfrm>
            <a:off x="4714875" y="238065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079206" y="2380655"/>
            <a:ext cx="1067516" cy="222879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e Testes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714875" y="2780705"/>
            <a:ext cx="257175" cy="257175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2" name="Text 29"/>
          <p:cNvSpPr/>
          <p:nvPr/>
        </p:nvSpPr>
        <p:spPr>
          <a:xfrm>
            <a:off x="4714875" y="278070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079206" y="2780705"/>
            <a:ext cx="607609" cy="222879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8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 Desafio: Conectar On-Premises à AWS de Forma Segura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03759"/>
            <a:ext cx="6429375" cy="871538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FF99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1500" y="1503759"/>
            <a:ext cx="6429375" cy="87153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Empresas com infraestrutura on-premises precisam de conectividade segura, privada e escalável com ambientes AWS. A solução deve suportar múltiplas contas e VPCs, mantendo isolamento de rede e controle centralizado.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64369" y="2811066"/>
            <a:ext cx="285750" cy="28575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4"/>
          <p:cNvSpPr/>
          <p:nvPr/>
        </p:nvSpPr>
        <p:spPr>
          <a:xfrm>
            <a:off x="664369" y="281106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🔐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64369" y="3182541"/>
            <a:ext cx="377904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Comunicação Criptografada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64369" y="3414713"/>
            <a:ext cx="37790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dados entre on-premises e AWS devem ser transmitidos através de túneis IPSec criptografados.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00588" y="2811066"/>
            <a:ext cx="285750" cy="28575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8"/>
          <p:cNvSpPr/>
          <p:nvPr/>
        </p:nvSpPr>
        <p:spPr>
          <a:xfrm>
            <a:off x="4700588" y="281106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🏢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00588" y="3182541"/>
            <a:ext cx="377904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Suporte Multi-Contas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00588" y="3414713"/>
            <a:ext cx="37790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Conectividade com múltiplas contas AWS e VPCs através de um hub centralizado.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64369" y="4014788"/>
            <a:ext cx="285750" cy="28575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2"/>
          <p:cNvSpPr/>
          <p:nvPr/>
        </p:nvSpPr>
        <p:spPr>
          <a:xfrm>
            <a:off x="664369" y="401478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📈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64369" y="4386263"/>
            <a:ext cx="377904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Escalabilidade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64369" y="4618434"/>
            <a:ext cx="37790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preparada para crescimento futuro sem necessidade de redesenho.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700588" y="4014788"/>
            <a:ext cx="285750" cy="28575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0588" y="401478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⚙️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00588" y="4386263"/>
            <a:ext cx="377904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Gerenciamento Centralizado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00588" y="4618434"/>
            <a:ext cx="37790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Roteamento e políticas de rede gerenciadas de forma centralizada via Transit Gateway.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3429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spc="-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Arquitetura: On-Premises → VPN IPSec → Transit Gateway → VPCs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50081" y="1750219"/>
            <a:ext cx="32718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Fluxo de Conectividade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0081" y="2003822"/>
            <a:ext cx="32718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Ambiente On-Premises (172.16.0.0/20) conecta via VPN IPSec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50081" y="2446734"/>
            <a:ext cx="32718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 Gateway (TGW) atua como hub central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50081" y="2696766"/>
            <a:ext cx="32718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Múltiplas VPCs AWS (Network, Apps, Labs) conectadas ao TGW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0081" y="3411141"/>
            <a:ext cx="32718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A4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Componentes Principais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0081" y="3664744"/>
            <a:ext cx="32718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Gateway (representando equipamento VPN local)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0081" y="4107656"/>
            <a:ext cx="32718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Site-to-Site VPN (túneis IPSec)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0081" y="4357688"/>
            <a:ext cx="32718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 Gateway (hub de conectividade)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1428750"/>
            <a:ext cx="4286250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8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Infraestrutura On-Premises: Componentes e Configuração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03759"/>
            <a:ext cx="3900488" cy="1576536"/>
          </a:xfrm>
          <a:prstGeom prst="rect">
            <a:avLst/>
          </a:prstGeom>
          <a:solidFill>
            <a:srgbClr val="0D1117">
              <a:alpha val="50000"/>
            </a:srgbClr>
          </a:solidFill>
          <a:ln w="9144">
            <a:solidFill>
              <a:srgbClr val="00A4E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7225" y="1589484"/>
            <a:ext cx="372903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F99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COMPONENTES DO LABORATÓRIO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0455" y="1871663"/>
            <a:ext cx="87187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Gateway VPN: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723765" y="1871663"/>
            <a:ext cx="207297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172.16.0.1 (equipamento VPN local)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80455" y="2148818"/>
            <a:ext cx="85013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Cliente Linux: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702026" y="2148818"/>
            <a:ext cx="178716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172.16.0.10 (máquina de teste)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80455" y="2425973"/>
            <a:ext cx="79295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StrongSwan: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848" y="2425973"/>
            <a:ext cx="134363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de VPN IPSec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80455" y="2703128"/>
            <a:ext cx="51449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Vagrant: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366382" y="2703128"/>
            <a:ext cx="236575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ferramenta para provisionamento de VMs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1500" y="3208883"/>
            <a:ext cx="3900488" cy="1505099"/>
          </a:xfrm>
          <a:prstGeom prst="rect">
            <a:avLst/>
          </a:prstGeom>
          <a:solidFill>
            <a:srgbClr val="0D1117">
              <a:alpha val="50000"/>
            </a:srgbClr>
          </a:solidFill>
          <a:ln w="9144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7225" y="3294608"/>
            <a:ext cx="372903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00A4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CARACTERÍSTICAS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80455" y="3576786"/>
            <a:ext cx="70731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Rede CIDR: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559207" y="3576786"/>
            <a:ext cx="78653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172.16.0.0/20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7225" y="3853942"/>
            <a:ext cx="372903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Simulação de ambiente corporativo on-premises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57225" y="4131097"/>
            <a:ext cx="372903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StrongSwan configurado para estabelecer túneis IPSec com AWS</a:t>
            </a:r>
            <a:endParaRPr lang="en-US" sz="9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013" y="1503759"/>
            <a:ext cx="3900488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-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Arquitetura AWS: Múltiplas VPCs Conectadas via Transit Gateway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664369" y="1496616"/>
            <a:ext cx="3729038" cy="260747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VPCs e Subnets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80845" y="1828800"/>
            <a:ext cx="85027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Network VPC: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702557" y="1828800"/>
            <a:ext cx="20517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10.10.0.0/20 (hub de conectividade)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80845" y="2091668"/>
            <a:ext cx="6644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Apps VPC: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516707" y="2091668"/>
            <a:ext cx="223027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10.30.0.0/20 (aplicações em produção)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80845" y="2354535"/>
            <a:ext cx="750317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Labs VPC 1: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602600" y="2354535"/>
            <a:ext cx="192292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10.20.0.0/20 (ambiente de testes)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0845" y="2617403"/>
            <a:ext cx="750317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Labs VPC 2: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602600" y="2617403"/>
            <a:ext cx="261634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10.20.16.0/20 (ambiente de desenvolvimento)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64369" y="3151733"/>
            <a:ext cx="3729038" cy="260747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Conectividade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4369" y="3483918"/>
            <a:ext cx="372903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 Gateway centraliza o roteamento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64369" y="3746785"/>
            <a:ext cx="372903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VPC conectada ao TGW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64369" y="4009653"/>
            <a:ext cx="372903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Suporte para comunicação entre VPCs e com on-premises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1987748"/>
            <a:ext cx="3857625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spc="-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Criando o Customer Gateway: Representação do Equipamento VPN Local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50081" y="1450181"/>
            <a:ext cx="355758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 que é Customer Gateway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50081" y="1685925"/>
            <a:ext cx="35575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Customer Gateway é um recurso AWS que representa o equipamento VPN físico ou virtual no seu ambiente on-premises.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50081" y="2493169"/>
            <a:ext cx="355758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4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Ações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50081" y="2728913"/>
            <a:ext cx="3557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Criar Customer Gateway na console AWS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0081" y="2978944"/>
            <a:ext cx="35575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Especificar o IP público do equipamento VPN local (172.16.0.1)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50081" y="3421856"/>
            <a:ext cx="3557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Configurar tipo de roteamento (estático ou dinâmico)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0081" y="3671888"/>
            <a:ext cx="3557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Registrar o ID do Customer Gateway para próximas etapas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0081" y="4150519"/>
            <a:ext cx="355758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0081" y="4386263"/>
            <a:ext cx="35575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Gateway criado e pronto para ser associado à VPN.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000500" cy="22502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-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Configurando a VPN Site-to-Site: Túneis IPSec com Transit Gateway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635794" y="1468041"/>
            <a:ext cx="38004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Ações na Console AWS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35794" y="1721644"/>
            <a:ext cx="3800475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Criar nova VPN Connection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35794" y="1985963"/>
            <a:ext cx="3800475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Selecionar o Customer Gateway criado no Passo 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35794" y="2250281"/>
            <a:ext cx="3800475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Apontar para o Transit Gateway como destino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35794" y="2514600"/>
            <a:ext cx="3800475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Especificar CIDR da rede on-premises (172.16.0.0/20)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35794" y="1721644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5794" y="1985963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5794" y="2250281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35794" y="2514600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5794" y="2993231"/>
            <a:ext cx="38004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Configuração de Túneis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5794" y="3246834"/>
            <a:ext cx="3800475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cria dois túneis IPSec redundantes automaticamente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35794" y="3511153"/>
            <a:ext cx="3800475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túnel tem sua própria chave pré-compartilhada (PSK)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35794" y="3775472"/>
            <a:ext cx="3800475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Baixar arquivo de configuração para StrongSwan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35794" y="3246834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5794" y="3511153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35794" y="3775472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35794" y="4296966"/>
            <a:ext cx="38004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4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5794" y="4518422"/>
            <a:ext cx="38004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VPN criada com dois túneis redundantes, pronta para configuração no lado on-premises.</a:t>
            </a:r>
            <a:endParaRPr lang="en-US" sz="9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8" y="1403747"/>
            <a:ext cx="3929063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-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Configurando StrongSwan: Implementando IPSec On-Premises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635794" y="1468041"/>
            <a:ext cx="376475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Arquivos de Configuração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35794" y="1707356"/>
            <a:ext cx="3764756" cy="39112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/etc/ipsec.conf</a:t>
            </a: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Define os túneis IPSec, algoritmos e parâmetros de negociação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35794" y="2141339"/>
            <a:ext cx="3764756" cy="39112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/etc/ipsec.secrets</a:t>
            </a: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Armazena as chaves pré-compartilhadas (PSKs)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35794" y="1707356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35794" y="2141339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35794" y="2761059"/>
            <a:ext cx="376475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Configuração dos Túneis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5794" y="3000375"/>
            <a:ext cx="3764756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Dois túneis IPSec redundantes (Tunnel 1 e Tunnel 2)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35794" y="3236119"/>
            <a:ext cx="3764756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túnel com sua própria PSK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35794" y="3471863"/>
            <a:ext cx="3764756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Algoritmos: AES-128-CBC, SHA-256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35794" y="3707606"/>
            <a:ext cx="3764756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Parâmetros de Phase 1 e Phase 2 configurados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35794" y="3000375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5794" y="3236119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35794" y="3471863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35794" y="3707606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5794" y="4164806"/>
            <a:ext cx="376475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4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5794" y="4386263"/>
            <a:ext cx="37647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StrongSwan configurado e pronto para estabelecer conexão com AWS.</a:t>
            </a:r>
            <a:endParaRPr lang="en-US" sz="9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156" y="1403747"/>
            <a:ext cx="3893344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-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Configurando Roteamento: Tabelas de Rota no TGW e VPCs</a:t>
            </a:r>
            <a:endParaRPr lang="en-US" sz="2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03747"/>
            <a:ext cx="3857625" cy="32146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36319" y="1525191"/>
            <a:ext cx="36147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A4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Transit Gateway Route Table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836319" y="1793081"/>
            <a:ext cx="3614738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Adicionar rota para CIDR on-premises (172.16.0.0/20)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836319" y="2043113"/>
            <a:ext cx="3614738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Apontar para a VPN Connection como destino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836319" y="2293144"/>
            <a:ext cx="3614738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Habilitar propagação de rotas (se aplicável)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4836319" y="1793081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836319" y="2043113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836319" y="2293144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836319" y="2900363"/>
            <a:ext cx="36147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VPC Route Tables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36319" y="3168253"/>
            <a:ext cx="3614738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VPC deve ter rota para 172.16.0.0/20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836319" y="3418284"/>
            <a:ext cx="3614738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Destino: Transit Gateway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836319" y="3668316"/>
            <a:ext cx="3614738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Subnets privadas configuradas para rotear via TGW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714875" y="4154091"/>
            <a:ext cx="3857625" cy="850106"/>
          </a:xfrm>
          <a:prstGeom prst="rect">
            <a:avLst/>
          </a:prstGeom>
          <a:solidFill>
            <a:srgbClr val="0D1117">
              <a:alpha val="50000"/>
            </a:srgbClr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36319" y="3168253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836319" y="3418284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836319" y="3668316"/>
            <a:ext cx="450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829175" y="4268391"/>
            <a:ext cx="36290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829175" y="4489847"/>
            <a:ext cx="3629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Roteamento bidirecional configurado com sucesso entre o ambiente on-premises e as VPCs na AWS.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-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Validando a Conectividade: Testes de Conectividade End-to-End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650081" y="1482328"/>
            <a:ext cx="373618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Testes Executados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0081" y="1721644"/>
            <a:ext cx="373618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A4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1. Status da VPN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0081" y="1910953"/>
            <a:ext cx="3736181" cy="17502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Comando: </a:t>
            </a: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ipsec statusall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0081" y="2114550"/>
            <a:ext cx="3736181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 se os túneis IPSec estão UP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0081" y="2328863"/>
            <a:ext cx="373618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A4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 Testes de Conectividade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50081" y="1910953"/>
            <a:ext cx="399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0081" y="2114550"/>
            <a:ext cx="399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50081" y="2518172"/>
            <a:ext cx="3736181" cy="17502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ping 10.10.9.17</a:t>
            </a:r>
            <a:r>
              <a:rPr lang="en-US" sz="8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(Network VPC)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50081" y="2721769"/>
            <a:ext cx="3736181" cy="17502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ping 10.30.4.78</a:t>
            </a:r>
            <a:r>
              <a:rPr lang="en-US" sz="8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(Apps VPC)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50081" y="2925366"/>
            <a:ext cx="3736181" cy="17502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ping 10.20.6.59</a:t>
            </a:r>
            <a:r>
              <a:rPr lang="en-US" sz="8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(Labs VPC 1)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50081" y="3128963"/>
            <a:ext cx="3736181" cy="17502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ping 10.20.21.20</a:t>
            </a:r>
            <a:r>
              <a:rPr lang="en-US" sz="8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(Labs VPC 2)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50081" y="2518172"/>
            <a:ext cx="399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50081" y="2721769"/>
            <a:ext cx="399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50081" y="2925366"/>
            <a:ext cx="399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50081" y="3128963"/>
            <a:ext cx="399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A4E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50081" y="3596878"/>
            <a:ext cx="373618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4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Resultado Esperado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50081" y="3818334"/>
            <a:ext cx="37361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pings devem responder com sucesso, confirmando conectividade end-to-end entre on-premises e todas as VPCs AWS.</a:t>
            </a:r>
            <a:endParaRPr lang="en-US" sz="9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156" y="1403747"/>
            <a:ext cx="3893344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8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Resumo: VPN Site-to-Site Integrada ao Transit Gateway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46634"/>
            <a:ext cx="3821906" cy="3496866"/>
          </a:xfrm>
          <a:prstGeom prst="rect">
            <a:avLst/>
          </a:prstGeom>
          <a:solidFill>
            <a:srgbClr val="0D1117">
              <a:alpha val="50000"/>
            </a:srgbClr>
          </a:solidFill>
          <a:ln w="9144">
            <a:solidFill>
              <a:srgbClr val="00A4E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7250" y="1932384"/>
            <a:ext cx="3250406" cy="376833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A4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Conquistas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07281" y="2523530"/>
            <a:ext cx="15180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VPN Site-to-Site com IPSec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32512" y="2523530"/>
            <a:ext cx="137514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estabelecida com sucesso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57250" y="3137892"/>
            <a:ext cx="325040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Comunicação segura entre on-premises e múltiplas VPCs AWS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07281" y="3752255"/>
            <a:ext cx="73923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Transit Gateway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53676" y="3752255"/>
            <a:ext cx="215398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operando como hub centralizado de conectividade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7250" y="4366617"/>
            <a:ext cx="325040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Roteamento escalável preparado para crescimento futuro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50594" y="1646634"/>
            <a:ext cx="3821906" cy="3496866"/>
          </a:xfrm>
          <a:prstGeom prst="rect">
            <a:avLst/>
          </a:prstGeom>
          <a:solidFill>
            <a:srgbClr val="0D1117">
              <a:alpha val="50000"/>
            </a:srgbClr>
          </a:solidFill>
          <a:ln w="9144">
            <a:solidFill>
              <a:srgbClr val="FF9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36344" y="1932384"/>
            <a:ext cx="3250406" cy="376833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14950" y="2523530"/>
            <a:ext cx="1487993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Próximo vídeo: AWS Network Firewall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10099" y="2523530"/>
            <a:ext cx="1376651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proteção centralizada de tráfego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036344" y="3373636"/>
            <a:ext cx="325040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Implementar políticas de segurança avançadas e regras de firewall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36344" y="3987998"/>
            <a:ext cx="325040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 contínuo e otimização de performance da rede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98143" y="730811"/>
            <a:ext cx="3147715" cy="78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950" b="1" spc="-2" kern="0" dirty="0">
                <a:solidFill>
                  <a:srgbClr val="FF99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Obrigado</a:t>
            </a:r>
            <a:r>
              <a:rPr lang="en-US" sz="4950" b="1" spc="-2" kern="0" dirty="0">
                <a:solidFill>
                  <a:srgbClr val="FF99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!</a:t>
            </a:r>
            <a:endParaRPr lang="en-US" sz="4950" dirty="0"/>
          </a:p>
        </p:txBody>
      </p:sp>
      <p:sp>
        <p:nvSpPr>
          <p:cNvPr id="4" name="Shape 1"/>
          <p:cNvSpPr/>
          <p:nvPr/>
        </p:nvSpPr>
        <p:spPr>
          <a:xfrm>
            <a:off x="1000125" y="1948821"/>
            <a:ext cx="3429000" cy="2463868"/>
          </a:xfrm>
          <a:prstGeom prst="rect">
            <a:avLst/>
          </a:prstGeom>
          <a:solidFill>
            <a:srgbClr val="0D1117">
              <a:alpha val="60000"/>
            </a:srgbClr>
          </a:solidFill>
          <a:ln w="9144">
            <a:solidFill>
              <a:srgbClr val="00A4E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96741" y="2234571"/>
            <a:ext cx="428625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00A4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📺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766292" y="2779282"/>
            <a:ext cx="1889494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Contato e Recursos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5875" y="3152542"/>
            <a:ext cx="28503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Inscreva-se no canal</a:t>
            </a:r>
            <a:r>
              <a:rPr lang="en-US" sz="10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mais conteúdo </a:t>
            </a:r>
            <a:r>
              <a:rPr lang="en-US" sz="10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 arquitetura AWS.</a:t>
            </a:r>
            <a:r>
              <a:rPr lang="en-US" sz="10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0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Deixe seus comentários e dúvidas abaixo!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7731" y="1948821"/>
            <a:ext cx="3436144" cy="2463868"/>
          </a:xfrm>
          <a:prstGeom prst="rect">
            <a:avLst/>
          </a:prstGeom>
          <a:solidFill>
            <a:srgbClr val="0D1117">
              <a:alpha val="60000"/>
            </a:srgbClr>
          </a:solidFill>
          <a:ln w="9144">
            <a:solidFill>
              <a:srgbClr val="FF99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5063" y="2241714"/>
            <a:ext cx="428625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FF99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🛡️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729120" y="2786425"/>
            <a:ext cx="1400482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Próximo Vídeo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34081" y="3159686"/>
            <a:ext cx="2390589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perca o próximo conteúdo sobre:</a:t>
            </a:r>
            <a:r>
              <a:rPr lang="en-US" sz="10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0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AWS Network Firewall</a:t>
            </a:r>
            <a:r>
              <a:rPr lang="en-US" sz="10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050" dirty="0">
                <a:solidFill>
                  <a:srgbClr val="A1AA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Proteção centralizada de rede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2026-06-20T16:45:22Z</dcterms:created>
  <dcterms:modified xsi:type="dcterms:W3CDTF">2026-06-20T16:45:22Z</dcterms:modified>
</cp:coreProperties>
</file>