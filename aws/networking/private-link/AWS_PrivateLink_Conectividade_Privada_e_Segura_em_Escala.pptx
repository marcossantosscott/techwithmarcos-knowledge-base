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9063" y="653848"/>
            <a:ext cx="571500" cy="57150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219" y="796723"/>
            <a:ext cx="357188" cy="28575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643438" y="653848"/>
            <a:ext cx="57150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2"/>
          <p:cNvSpPr/>
          <p:nvPr/>
        </p:nvSpPr>
        <p:spPr>
          <a:xfrm>
            <a:off x="4423767" y="889592"/>
            <a:ext cx="27860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TECH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4702373" y="889592"/>
            <a:ext cx="27682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WITH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4979194" y="889592"/>
            <a:ext cx="45541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MARCOS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2303859" y="1653973"/>
            <a:ext cx="4536281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spc="-2" kern="0" dirty="0">
                <a:solidFill>
                  <a:srgbClr val="F9731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AWS </a:t>
            </a:r>
            <a:r>
              <a:rPr lang="en-US" sz="3750" b="1" spc="-2" kern="0" dirty="0">
                <a:solidFill>
                  <a:srgbClr val="F9731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PRIVATELINK</a:t>
            </a:r>
            <a:endParaRPr lang="en-US" sz="3750" dirty="0"/>
          </a:p>
        </p:txBody>
      </p:sp>
      <p:sp>
        <p:nvSpPr>
          <p:cNvPr id="10" name="Text 6"/>
          <p:cNvSpPr/>
          <p:nvPr/>
        </p:nvSpPr>
        <p:spPr>
          <a:xfrm>
            <a:off x="2131516" y="2346917"/>
            <a:ext cx="4880967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Conectividade Privada em Escala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2140446" y="3239886"/>
            <a:ext cx="486310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Compartilhe serviços entre VPCs e contas de forma segura,</a:t>
            </a: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mantendo o tráfego totalmente isolado da Internet pública.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972693" y="4148537"/>
            <a:ext cx="3198614" cy="341114"/>
          </a:xfrm>
          <a:prstGeom prst="round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972693" y="4148537"/>
            <a:ext cx="3198614" cy="341114"/>
          </a:xfrm>
          <a:prstGeom prst="rect">
            <a:avLst/>
          </a:prstGeom>
          <a:noFill/>
          <a:ln/>
        </p:spPr>
        <p:txBody>
          <a:bodyPr wrap="square" lIns="340233" tIns="102108" rIns="340233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NETWORKING SPECIALTY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533459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Desafio: Exposição e Complexidade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03722"/>
            <a:ext cx="3441976" cy="317539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03722"/>
            <a:ext cx="3441976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489472"/>
            <a:ext cx="287047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CONECTIVIDADE TRADICIONAL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7250" y="1802011"/>
            <a:ext cx="2870476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Compartilhar serviços entre VPCs 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geralmente exige VPC Peering ou 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tráfego via Internet (IGW/NAT). 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Isso introduz </a:t>
            </a:r>
            <a:r>
              <a:rPr lang="en-US" sz="1100" b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vetores de ataque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 massiva de roteamento, 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especialmente em arquiteturas de 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larga escala com centenas de VPCs.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442101" y="1375172"/>
            <a:ext cx="413039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Limitações Críticas: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101" y="1832372"/>
            <a:ext cx="142875" cy="610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27851" y="1796653"/>
            <a:ext cx="384464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Exposição à Internet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27851" y="2057400"/>
            <a:ext cx="384464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 expostos via Internet Pública aumentam a superfície de ataque e riscos de segurança.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101" y="2693194"/>
            <a:ext cx="178594" cy="6107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63570" y="2657475"/>
            <a:ext cx="380893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CIDRs Sobrepostos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763570" y="2918222"/>
            <a:ext cx="380893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VPC Peering não funciona se as VPCs tiverem as mesmas faixas de IP (Overlapping CIDRs).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101" y="3554016"/>
            <a:ext cx="160734" cy="61079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45710" y="3518297"/>
            <a:ext cx="382679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Gestão de Rotas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745710" y="3779044"/>
            <a:ext cx="382679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VPC Peering exige atualizações constantes em tabelas de rotas e não é transitivo por natureza.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4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386476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que é o AWS PrivateLink?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989409"/>
            <a:ext cx="4208311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989409"/>
            <a:ext cx="28575" cy="14287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289447"/>
            <a:ext cx="3779686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1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AWS PrivateLink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fornece conectividade privada 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VPCs, serviços da AWS e suas redes on-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premises, sem expor o tráfego à Internet pública.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89609"/>
            <a:ext cx="112514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1170" y="2561034"/>
            <a:ext cx="3988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Tráfego no Backbone AWS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91170" y="2769989"/>
            <a:ext cx="332720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tráfego nunca sai da rede global da AWS, garantindo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791170" y="2925366"/>
            <a:ext cx="16537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 e baixa latência.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37905"/>
            <a:ext cx="112514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1170" y="3209330"/>
            <a:ext cx="3988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Simplicidade de Rede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91170" y="3418284"/>
            <a:ext cx="380583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requer IGW, NAT Gateway, conexões VPN ou VPC Peering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791170" y="3573661"/>
            <a:ext cx="6911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complexos.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86200"/>
            <a:ext cx="112514" cy="128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1170" y="3857625"/>
            <a:ext cx="3988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Consumo de Serviços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791170" y="4066580"/>
            <a:ext cx="327183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acessar serviços de terceiros (SaaS) como se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791170" y="4221956"/>
            <a:ext cx="192702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estivessem na sua própria VPC.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34495"/>
            <a:ext cx="112514" cy="1285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1170" y="4505920"/>
            <a:ext cx="3988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Conformidade Elevada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791170" y="4714875"/>
            <a:ext cx="377725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 indústrias reguladas que exigem isolamento total da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791170" y="4870252"/>
            <a:ext cx="5089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Internet.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5065561" y="989409"/>
            <a:ext cx="3506939" cy="4164806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6149290" y="2536031"/>
            <a:ext cx="1339453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528816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Componentes: Provider vs Consumer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3857625" cy="34861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32284"/>
            <a:ext cx="385762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" y="1360884"/>
            <a:ext cx="34004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LADO DA OFERTA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32347"/>
            <a:ext cx="185738" cy="1857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1563" y="1612702"/>
            <a:ext cx="150018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Provider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023467"/>
            <a:ext cx="62508" cy="3171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8333" y="1980605"/>
            <a:ext cx="15090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Expõe o serviço utilizando um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2543063" y="1980605"/>
            <a:ext cx="153423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Load Balancer (NLB)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163020" y="1980605"/>
            <a:ext cx="3750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512089"/>
            <a:ext cx="62508" cy="13715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8333" y="2469226"/>
            <a:ext cx="5429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 uma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1576983" y="2469226"/>
            <a:ext cx="137517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VPC Endpoint Service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3037880" y="2469226"/>
            <a:ext cx="111978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associada ao NLB.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820693"/>
            <a:ext cx="62508" cy="31717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48333" y="2777830"/>
            <a:ext cx="325219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 quem pode acessar o serviço via permissões de conta AWS.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309314"/>
            <a:ext cx="62508" cy="31717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48333" y="3266452"/>
            <a:ext cx="325219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 exigir aceitação manual de novas conexões de consumidores.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4714875" y="1132284"/>
            <a:ext cx="3857625" cy="34861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14"/>
          <p:cNvSpPr/>
          <p:nvPr/>
        </p:nvSpPr>
        <p:spPr>
          <a:xfrm>
            <a:off x="4714875" y="1132284"/>
            <a:ext cx="3857625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15"/>
          <p:cNvSpPr/>
          <p:nvPr/>
        </p:nvSpPr>
        <p:spPr>
          <a:xfrm>
            <a:off x="4943475" y="1360884"/>
            <a:ext cx="34004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LADO DA DEMANDA</a:t>
            </a:r>
            <a:endParaRPr lang="en-US" sz="8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3475" y="1632347"/>
            <a:ext cx="208955" cy="18573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38155" y="1612702"/>
            <a:ext cx="1678781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Consumer</a:t>
            </a:r>
            <a:endParaRPr lang="en-US" sz="13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3475" y="2023467"/>
            <a:ext cx="62508" cy="317171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91708" y="1980605"/>
            <a:ext cx="46211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 um</a:t>
            </a:r>
            <a:endParaRPr lang="en-US" sz="950" dirty="0"/>
          </a:p>
        </p:txBody>
      </p:sp>
      <p:sp>
        <p:nvSpPr>
          <p:cNvPr id="28" name="Text 18"/>
          <p:cNvSpPr/>
          <p:nvPr/>
        </p:nvSpPr>
        <p:spPr>
          <a:xfrm>
            <a:off x="5639544" y="1980605"/>
            <a:ext cx="143533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Interface VPC Endpoint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7160605" y="1980605"/>
            <a:ext cx="118329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sua própria VPC.</a:t>
            </a:r>
            <a:endParaRPr lang="en-US" sz="9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3475" y="2512089"/>
            <a:ext cx="62508" cy="317171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091708" y="2469226"/>
            <a:ext cx="79811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endpoint gera uma</a:t>
            </a:r>
            <a:endParaRPr lang="en-US" sz="950" dirty="0"/>
          </a:p>
        </p:txBody>
      </p:sp>
      <p:sp>
        <p:nvSpPr>
          <p:cNvPr id="32" name="Text 21"/>
          <p:cNvSpPr/>
          <p:nvPr/>
        </p:nvSpPr>
        <p:spPr>
          <a:xfrm>
            <a:off x="5975552" y="2469226"/>
            <a:ext cx="120391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Elastic Network Interface (ENI)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7265194" y="2469226"/>
            <a:ext cx="10787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IP privado da sub-rede.</a:t>
            </a:r>
            <a:endParaRPr lang="en-US" sz="9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3475" y="3000710"/>
            <a:ext cx="62508" cy="317171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091708" y="2957847"/>
            <a:ext cx="325219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 Security Groups na ENI para controlar o tráfego de saída.</a:t>
            </a:r>
            <a:endParaRPr lang="en-US" sz="9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43475" y="3489331"/>
            <a:ext cx="62508" cy="317171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091708" y="3446469"/>
            <a:ext cx="325219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Acessa o serviço via DNS privado ou endereço IP da ENI.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346293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Interface VPC Endpoints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3857625" cy="33432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32284"/>
            <a:ext cx="385762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" y="1360884"/>
            <a:ext cx="34004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IMPLEMENTAÇÃO FÍSICA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32347"/>
            <a:ext cx="232172" cy="1857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7997" y="1612702"/>
            <a:ext cx="2287786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Elastic Network Interface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023467"/>
            <a:ext cx="62508" cy="3171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8333" y="1980605"/>
            <a:ext cx="97434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PrivateLink cria uma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2008398" y="1980605"/>
            <a:ext cx="21252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ENI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2306650" y="1980605"/>
            <a:ext cx="18938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cada sub-rede selecionada da sua VPC.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512089"/>
            <a:ext cx="62508" cy="3171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8333" y="2469226"/>
            <a:ext cx="325219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Recebe um endereço IP privado diretamente do seu espaço de endereçamento (CIDR).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000710"/>
            <a:ext cx="62508" cy="3171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48333" y="2957847"/>
            <a:ext cx="325219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tráfego é roteado internamente para o serviço de destino sem sair da rede AWS.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4714875" y="1132284"/>
            <a:ext cx="3857625" cy="33432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1"/>
          <p:cNvSpPr/>
          <p:nvPr/>
        </p:nvSpPr>
        <p:spPr>
          <a:xfrm>
            <a:off x="4714875" y="1132284"/>
            <a:ext cx="3857625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2"/>
          <p:cNvSpPr/>
          <p:nvPr/>
        </p:nvSpPr>
        <p:spPr>
          <a:xfrm>
            <a:off x="4943475" y="1360884"/>
            <a:ext cx="34004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CONTROLE E ACESSO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5029200" y="1612702"/>
            <a:ext cx="157698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DNS e Segurança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3475" y="2023467"/>
            <a:ext cx="62508" cy="4971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91708" y="1980605"/>
            <a:ext cx="44291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Private DNS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5620345" y="1980605"/>
            <a:ext cx="272355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Permite usar o nome DNS padrão do serviço (ex: s3.amazonaws.com) resolvendo para o IP do endpoint.</a:t>
            </a:r>
            <a:endParaRPr lang="en-US" sz="9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3475" y="2692105"/>
            <a:ext cx="62508" cy="31717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91708" y="2649243"/>
            <a:ext cx="325219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Groups: Você pode aplicar regras de firewall diretamente na ENI do endpoint.</a:t>
            </a:r>
            <a:endParaRPr lang="en-US" sz="9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3475" y="3180727"/>
            <a:ext cx="62508" cy="317171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91708" y="3137864"/>
            <a:ext cx="325219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Políticas de Endpoint: Controle granular sobre QUEM pode acessar O QUE através do PrivateLink.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457021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Solução para Overlapping CIDRs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3857625" cy="33432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32284"/>
            <a:ext cx="385762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" y="1360884"/>
            <a:ext cx="34004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PROBLEMA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32347"/>
            <a:ext cx="185738" cy="1857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1563" y="1612702"/>
            <a:ext cx="1314450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Conflito de IPs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023467"/>
            <a:ext cx="62508" cy="3171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8333" y="1980605"/>
            <a:ext cx="4857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VPC Peering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519833" y="1980605"/>
            <a:ext cx="268069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exige que as faixas de IP (CIDR) sejam únicas entre as redes conectadas.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512089"/>
            <a:ext cx="62508" cy="4971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8333" y="2469226"/>
            <a:ext cx="3252192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fusões de empresas ou SaaS, é comum que diferentes VPCs usem o mesmo range (ex: 10.0.0.0/16).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180727"/>
            <a:ext cx="62508" cy="31717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48333" y="3137864"/>
            <a:ext cx="325219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Isso impede o roteamento direto e exige NAT complexo ou re-endereçamento.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4714875" y="1132284"/>
            <a:ext cx="3857625" cy="33432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0"/>
          <p:cNvSpPr/>
          <p:nvPr/>
        </p:nvSpPr>
        <p:spPr>
          <a:xfrm>
            <a:off x="4714875" y="1132284"/>
            <a:ext cx="3857625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1"/>
          <p:cNvSpPr/>
          <p:nvPr/>
        </p:nvSpPr>
        <p:spPr>
          <a:xfrm>
            <a:off x="4943475" y="1360884"/>
            <a:ext cx="34004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SOLUÇÃO</a:t>
            </a:r>
            <a:endParaRPr lang="en-US" sz="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3475" y="1632347"/>
            <a:ext cx="185738" cy="18573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14938" y="1612702"/>
            <a:ext cx="2002036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Abstração PrivateLink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3475" y="2023467"/>
            <a:ext cx="62508" cy="31717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91708" y="1980605"/>
            <a:ext cx="180134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PrivateLink expõe o serviço através de uma</a:t>
            </a:r>
            <a:endParaRPr lang="en-US" sz="950" dirty="0"/>
          </a:p>
        </p:txBody>
      </p:sp>
      <p:sp>
        <p:nvSpPr>
          <p:cNvPr id="23" name="Text 14"/>
          <p:cNvSpPr/>
          <p:nvPr/>
        </p:nvSpPr>
        <p:spPr>
          <a:xfrm>
            <a:off x="6978774" y="1980605"/>
            <a:ext cx="35378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ENI local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7418282" y="1980605"/>
            <a:ext cx="92561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VPC do consumidor.</a:t>
            </a:r>
            <a:endParaRPr lang="en-US" sz="9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3475" y="2512089"/>
            <a:ext cx="62508" cy="317171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091708" y="2469226"/>
            <a:ext cx="325219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consumidor acessa o serviço usando um IP da sua própria sub-rede, ignorando o IP real do provedor.</a:t>
            </a:r>
            <a:endParaRPr lang="en-US" sz="9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3475" y="3000710"/>
            <a:ext cx="62508" cy="49718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091708" y="2957847"/>
            <a:ext cx="50006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 Conflito</a:t>
            </a:r>
            <a:endParaRPr lang="en-US" sz="900" dirty="0"/>
          </a:p>
        </p:txBody>
      </p:sp>
      <p:sp>
        <p:nvSpPr>
          <p:cNvPr id="29" name="Text 18"/>
          <p:cNvSpPr/>
          <p:nvPr/>
        </p:nvSpPr>
        <p:spPr>
          <a:xfrm>
            <a:off x="5677495" y="2957847"/>
            <a:ext cx="266640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Permite conectar milhares de VPCs com CIDRs idênticos sem qualquer alteração de rede.</a:t>
            </a:r>
            <a:endParaRPr lang="en-US" sz="950" dirty="0"/>
          </a:p>
        </p:txBody>
      </p:sp>
      <p:sp>
        <p:nvSpPr>
          <p:cNvPr id="30" name="Text 19"/>
          <p:cNvSpPr/>
          <p:nvPr/>
        </p:nvSpPr>
        <p:spPr>
          <a:xfrm>
            <a:off x="571500" y="4736306"/>
            <a:ext cx="33861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CONECTIVIDADE SEM BARREIRAS DE ENDEREÇAMENTO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478274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Segurança: Isolamento e Controle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060847"/>
            <a:ext cx="3914775" cy="18002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60847"/>
            <a:ext cx="391477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742950" y="1232297"/>
            <a:ext cx="3571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ISOLAMENTO TOTAL</a:t>
            </a:r>
            <a:endParaRPr lang="en-US" sz="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457325"/>
            <a:ext cx="150019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8694" y="1439466"/>
            <a:ext cx="195917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 Exposição Pública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42950" y="1768078"/>
            <a:ext cx="3571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tráfego entre o consumidor e o provedor de serviço nunca atravessa a Internet pública, eliminando riscos de ataques baseados em IP público e DDoS externo.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657725" y="1060847"/>
            <a:ext cx="3914775" cy="18002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7"/>
          <p:cNvSpPr/>
          <p:nvPr/>
        </p:nvSpPr>
        <p:spPr>
          <a:xfrm>
            <a:off x="4657725" y="1060847"/>
            <a:ext cx="3914775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8"/>
          <p:cNvSpPr/>
          <p:nvPr/>
        </p:nvSpPr>
        <p:spPr>
          <a:xfrm>
            <a:off x="4829175" y="1232297"/>
            <a:ext cx="3571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CONTROLE DE ACESSO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75" y="1457325"/>
            <a:ext cx="150019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64919" y="1439466"/>
            <a:ext cx="14430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Endpoint Policies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829175" y="1732359"/>
            <a:ext cx="3571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</a:t>
            </a:r>
            <a:r>
              <a:rPr lang="en-US" sz="85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VPC Endpoint Policies</a:t>
            </a: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restringir quais usuários </a:t>
            </a: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 grupos do IAM podem acessar o serviço, garantindo o </a:t>
            </a: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princípio do privilégio mínimo.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71500" y="3003947"/>
            <a:ext cx="3914775" cy="18002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2"/>
          <p:cNvSpPr/>
          <p:nvPr/>
        </p:nvSpPr>
        <p:spPr>
          <a:xfrm>
            <a:off x="571500" y="3003947"/>
            <a:ext cx="3914775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3"/>
          <p:cNvSpPr/>
          <p:nvPr/>
        </p:nvSpPr>
        <p:spPr>
          <a:xfrm>
            <a:off x="742950" y="3175397"/>
            <a:ext cx="3571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PREVENÇÃO</a:t>
            </a:r>
            <a:endParaRPr lang="en-US" sz="7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00425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0125" y="3382566"/>
            <a:ext cx="195203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Proteção de Exfiltração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42950" y="3711178"/>
            <a:ext cx="3571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remover a necessidade de IGW ou NAT Gateway, você reduz drasticamente as rotas de saída não autorizadas para a Internet, protegendo dados sensíveis.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657725" y="3003947"/>
            <a:ext cx="3914775" cy="18002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17"/>
          <p:cNvSpPr/>
          <p:nvPr/>
        </p:nvSpPr>
        <p:spPr>
          <a:xfrm>
            <a:off x="4657725" y="3003947"/>
            <a:ext cx="391477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18"/>
          <p:cNvSpPr/>
          <p:nvPr/>
        </p:nvSpPr>
        <p:spPr>
          <a:xfrm>
            <a:off x="4829175" y="3175397"/>
            <a:ext cx="3571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CONFORMIDADE</a:t>
            </a:r>
            <a:endParaRPr lang="en-US" sz="7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3400425"/>
            <a:ext cx="128588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043488" y="3382566"/>
            <a:ext cx="13644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Auditoria e Logs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29175" y="3711178"/>
            <a:ext cx="3571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total com </a:t>
            </a:r>
            <a:r>
              <a:rPr lang="en-US" sz="85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VPC Flow Logs</a:t>
            </a: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85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CloudTrail</a:t>
            </a: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</a:t>
            </a: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monitorar e auditar cada conexão privada estabelecida via </a:t>
            </a: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PrivateLink.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71500" y="4736306"/>
            <a:ext cx="271998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SEGURANÇA DE REDE DE NÍVEL ENTERPRISE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495954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Casos de Uso: PrivateLink em Ação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060847"/>
            <a:ext cx="3914775" cy="18002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60847"/>
            <a:ext cx="3914775" cy="2857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35869"/>
            <a:ext cx="250031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0138" y="1232297"/>
            <a:ext cx="152340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Consumo de SaaS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42950" y="1568053"/>
            <a:ext cx="35718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Acesse serviços de parceiros SaaS (como Snowflake, Datadog ou MongoDB) de forma privada, sem que o tráfego atravesse a Internet pública.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57725" y="1060847"/>
            <a:ext cx="3914775" cy="18002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6"/>
          <p:cNvSpPr/>
          <p:nvPr/>
        </p:nvSpPr>
        <p:spPr>
          <a:xfrm>
            <a:off x="4657725" y="1060847"/>
            <a:ext cx="3914775" cy="28575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75" y="1235869"/>
            <a:ext cx="175022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11353" y="1232297"/>
            <a:ext cx="212705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Serviços Compartilhados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829175" y="1568053"/>
            <a:ext cx="35718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Exponha serviços internos (como autenticação ou logging) de uma VPC central para centenas de VPCs consumidoras sem complexidade de peering.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71500" y="3003947"/>
            <a:ext cx="3914775" cy="18002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3003947"/>
            <a:ext cx="3914775" cy="28575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178969"/>
            <a:ext cx="225028" cy="2000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5134" y="3175397"/>
            <a:ext cx="149661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AWS Marketplace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42950" y="3511153"/>
            <a:ext cx="35718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Consuma soluções de segurança e rede listadas no AWS Marketplace que utilizam PrivateLink para entrega segura e isolada.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657725" y="3003947"/>
            <a:ext cx="3914775" cy="18002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4"/>
          <p:cNvSpPr/>
          <p:nvPr/>
        </p:nvSpPr>
        <p:spPr>
          <a:xfrm>
            <a:off x="4657725" y="3003947"/>
            <a:ext cx="3914775" cy="2857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3178969"/>
            <a:ext cx="250031" cy="2000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86363" y="3175397"/>
            <a:ext cx="155198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Integração Híbrida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829175" y="3511153"/>
            <a:ext cx="35718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Conecte sua rede on-premises a serviços na AWS via Direct Connect ou VPN, acessando-os através de Interface Endpoints privados.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571500" y="4736306"/>
            <a:ext cx="416659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CONECTIVIDADE SEGURA E ESCALÁVEL PARA O ECOSSISTEMA AWS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444341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Boas Práticas e Dicas de Exame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989409"/>
            <a:ext cx="3914775" cy="19431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989409"/>
            <a:ext cx="3914775" cy="2857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168896"/>
            <a:ext cx="176808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6914" y="1160859"/>
            <a:ext cx="125551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e DNS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476970"/>
            <a:ext cx="53578" cy="2914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7966" y="1448395"/>
            <a:ext cx="4071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Habilite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1346597" y="1448395"/>
            <a:ext cx="47447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Private DNS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1892508" y="1448395"/>
            <a:ext cx="242231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usar nomes amigáveis sem alterar o código da aplicação.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882713"/>
            <a:ext cx="53578" cy="2914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7966" y="1854138"/>
            <a:ext cx="344685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Implante endpoints em múltiplas AZs para garantir alta disponibilidade.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288456"/>
            <a:ext cx="53578" cy="13143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7966" y="2259881"/>
            <a:ext cx="340221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Lembre-se: PrivateLink é unidirecional (Consumer -&gt; Provider).</a:t>
            </a:r>
            <a:endParaRPr lang="en-US" sz="850" dirty="0"/>
          </a:p>
        </p:txBody>
      </p:sp>
      <p:sp>
        <p:nvSpPr>
          <p:cNvPr id="16" name="Shape 9"/>
          <p:cNvSpPr/>
          <p:nvPr/>
        </p:nvSpPr>
        <p:spPr>
          <a:xfrm>
            <a:off x="4657725" y="989409"/>
            <a:ext cx="3914775" cy="19431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0"/>
          <p:cNvSpPr/>
          <p:nvPr/>
        </p:nvSpPr>
        <p:spPr>
          <a:xfrm>
            <a:off x="4657725" y="989409"/>
            <a:ext cx="3914775" cy="28575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175" y="1168896"/>
            <a:ext cx="157163" cy="1571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93494" y="1160859"/>
            <a:ext cx="15109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Segurança e Controle</a:t>
            </a:r>
            <a:endParaRPr lang="en-US" sz="10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1476970"/>
            <a:ext cx="53578" cy="29144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954191" y="1448395"/>
            <a:ext cx="21252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</a:t>
            </a:r>
            <a:endParaRPr lang="en-US" sz="850" dirty="0"/>
          </a:p>
        </p:txBody>
      </p:sp>
      <p:sp>
        <p:nvSpPr>
          <p:cNvPr id="22" name="Text 13"/>
          <p:cNvSpPr/>
          <p:nvPr/>
        </p:nvSpPr>
        <p:spPr>
          <a:xfrm>
            <a:off x="5238155" y="1448395"/>
            <a:ext cx="66637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Endpoint Policies</a:t>
            </a:r>
            <a:endParaRPr lang="en-US" sz="800" dirty="0"/>
          </a:p>
        </p:txBody>
      </p:sp>
      <p:sp>
        <p:nvSpPr>
          <p:cNvPr id="23" name="Text 14"/>
          <p:cNvSpPr/>
          <p:nvPr/>
        </p:nvSpPr>
        <p:spPr>
          <a:xfrm>
            <a:off x="5975970" y="1448395"/>
            <a:ext cx="242508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restringir o acesso a recursos específicos (ex: buckets S3).</a:t>
            </a:r>
            <a:endParaRPr lang="en-US" sz="8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175" y="1882713"/>
            <a:ext cx="53578" cy="29144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954191" y="1854138"/>
            <a:ext cx="344685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Aplique Security Groups restritivos na ENI do endpoint para controle granular.</a:t>
            </a:r>
            <a:endParaRPr lang="en-US" sz="8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9175" y="2288456"/>
            <a:ext cx="53578" cy="13143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954191" y="2259881"/>
            <a:ext cx="332720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Monitore conexões suspeitas via VPC Flow Logs no endpoint.</a:t>
            </a:r>
            <a:endParaRPr lang="en-US" sz="850" dirty="0"/>
          </a:p>
        </p:txBody>
      </p:sp>
      <p:sp>
        <p:nvSpPr>
          <p:cNvPr id="28" name="Shape 17"/>
          <p:cNvSpPr/>
          <p:nvPr/>
        </p:nvSpPr>
        <p:spPr>
          <a:xfrm>
            <a:off x="571500" y="3075384"/>
            <a:ext cx="3914775" cy="19431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18"/>
          <p:cNvSpPr/>
          <p:nvPr/>
        </p:nvSpPr>
        <p:spPr>
          <a:xfrm>
            <a:off x="571500" y="3075384"/>
            <a:ext cx="3914775" cy="28575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3254871"/>
            <a:ext cx="196453" cy="157163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046559" y="3246834"/>
            <a:ext cx="15537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Conectividade Híbrida</a:t>
            </a:r>
            <a:endParaRPr lang="en-US" sz="10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3562945"/>
            <a:ext cx="53578" cy="291443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867966" y="3534370"/>
            <a:ext cx="215526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Acesse Interface Endpoints on-premises via</a:t>
            </a:r>
            <a:endParaRPr lang="en-US" sz="850" dirty="0"/>
          </a:p>
        </p:txBody>
      </p:sp>
      <p:sp>
        <p:nvSpPr>
          <p:cNvPr id="34" name="Text 21"/>
          <p:cNvSpPr/>
          <p:nvPr/>
        </p:nvSpPr>
        <p:spPr>
          <a:xfrm>
            <a:off x="3094667" y="3534370"/>
            <a:ext cx="75288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Direct Connect</a:t>
            </a:r>
            <a:endParaRPr lang="en-US" sz="800" dirty="0"/>
          </a:p>
        </p:txBody>
      </p:sp>
      <p:sp>
        <p:nvSpPr>
          <p:cNvPr id="35" name="Text 22"/>
          <p:cNvSpPr/>
          <p:nvPr/>
        </p:nvSpPr>
        <p:spPr>
          <a:xfrm>
            <a:off x="3918989" y="3534370"/>
            <a:ext cx="39583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 VPN.</a:t>
            </a:r>
            <a:endParaRPr lang="en-US" sz="85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3968688"/>
            <a:ext cx="53578" cy="291443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867966" y="3940113"/>
            <a:ext cx="344685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 Endpoints (S3/DynamoDB) NÃO são acessíveis on-premises diretamente.</a:t>
            </a:r>
            <a:endParaRPr lang="en-US" sz="85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4374431"/>
            <a:ext cx="53578" cy="291443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867966" y="4345856"/>
            <a:ext cx="223434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PrivateLink para resolver conflitos de</a:t>
            </a:r>
            <a:endParaRPr lang="en-US" sz="850" dirty="0"/>
          </a:p>
        </p:txBody>
      </p:sp>
      <p:sp>
        <p:nvSpPr>
          <p:cNvPr id="40" name="Text 25"/>
          <p:cNvSpPr/>
          <p:nvPr/>
        </p:nvSpPr>
        <p:spPr>
          <a:xfrm>
            <a:off x="3173750" y="4345856"/>
            <a:ext cx="103749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Overlapping CIDRs</a:t>
            </a:r>
            <a:endParaRPr lang="en-US" sz="800" dirty="0"/>
          </a:p>
        </p:txBody>
      </p:sp>
      <p:sp>
        <p:nvSpPr>
          <p:cNvPr id="41" name="Text 26"/>
          <p:cNvSpPr/>
          <p:nvPr/>
        </p:nvSpPr>
        <p:spPr>
          <a:xfrm>
            <a:off x="4282678" y="4345856"/>
            <a:ext cx="3214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sp>
        <p:nvSpPr>
          <p:cNvPr id="42" name="Shape 27"/>
          <p:cNvSpPr/>
          <p:nvPr/>
        </p:nvSpPr>
        <p:spPr>
          <a:xfrm>
            <a:off x="4657725" y="3075384"/>
            <a:ext cx="3914775" cy="19431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Shape 28"/>
          <p:cNvSpPr/>
          <p:nvPr/>
        </p:nvSpPr>
        <p:spPr>
          <a:xfrm>
            <a:off x="4657725" y="3075384"/>
            <a:ext cx="3914775" cy="2857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9175" y="3254871"/>
            <a:ext cx="196453" cy="157163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5132784" y="3246834"/>
            <a:ext cx="103405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Dicas de Prova</a:t>
            </a:r>
            <a:endParaRPr lang="en-US" sz="1000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9175" y="3562945"/>
            <a:ext cx="53578" cy="291443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4954191" y="3534370"/>
            <a:ext cx="344685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Endpoint = ENI + PrivateLink; Gateway Endpoint = Route Table entry.</a:t>
            </a:r>
            <a:endParaRPr lang="en-US" sz="850" dirty="0"/>
          </a:p>
        </p:txBody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29175" y="3968688"/>
            <a:ext cx="53578" cy="291443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4954191" y="3940113"/>
            <a:ext cx="344685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NLB é obrigatório no lado do Service Provider para PrivateLink customizado.</a:t>
            </a:r>
            <a:endParaRPr lang="en-US" sz="850" dirty="0"/>
          </a:p>
        </p:txBody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29175" y="4374431"/>
            <a:ext cx="53578" cy="291443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4954191" y="4345856"/>
            <a:ext cx="344685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PrivateLink é a solução para compartilhar serviços SaaS de forma privada.</a:t>
            </a:r>
            <a:endParaRPr lang="en-US" sz="850" dirty="0"/>
          </a:p>
        </p:txBody>
      </p:sp>
      <p:sp>
        <p:nvSpPr>
          <p:cNvPr id="52" name="Text 33"/>
          <p:cNvSpPr/>
          <p:nvPr/>
        </p:nvSpPr>
        <p:spPr>
          <a:xfrm>
            <a:off x="5356027" y="4807744"/>
            <a:ext cx="321647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TECHWITHMARCOS • AWS ADVANCED NETWORKING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295394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Resumo e Conclusão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03722"/>
            <a:ext cx="3786188" cy="325040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03722"/>
            <a:ext cx="3786188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489472"/>
            <a:ext cx="32146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816298"/>
            <a:ext cx="128588" cy="3314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2994" y="1787723"/>
            <a:ext cx="29789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Conectividade privada e segura via backbone global da AWS.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319207"/>
            <a:ext cx="128588" cy="3314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2994" y="2290632"/>
            <a:ext cx="29789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definitiva para redes com CIDRs sobrepostos.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822116"/>
            <a:ext cx="128588" cy="33145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2994" y="2793541"/>
            <a:ext cx="29789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Consumo de serviços SaaS e internos sem exposição à Internet.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325025"/>
            <a:ext cx="128588" cy="33145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92994" y="3296450"/>
            <a:ext cx="29789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granular via Security Groups e Endpoint Policies.</a:t>
            </a:r>
            <a:endParaRPr lang="en-US" sz="9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827934"/>
            <a:ext cx="128588" cy="33145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92994" y="3799359"/>
            <a:ext cx="29789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drástica na complexidade de roteamento e peering.</a:t>
            </a:r>
            <a:endParaRPr lang="en-US" sz="950" dirty="0"/>
          </a:p>
        </p:txBody>
      </p:sp>
      <p:sp>
        <p:nvSpPr>
          <p:cNvPr id="17" name="Text 9"/>
          <p:cNvSpPr/>
          <p:nvPr/>
        </p:nvSpPr>
        <p:spPr>
          <a:xfrm>
            <a:off x="4786313" y="1203722"/>
            <a:ext cx="37861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Dicas para o Exame:</a:t>
            </a:r>
            <a:endParaRPr lang="en-US" sz="14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696641"/>
            <a:ext cx="107156" cy="44827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36344" y="1660922"/>
            <a:ext cx="35361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NLB Requirement</a:t>
            </a:r>
            <a:endParaRPr lang="en-US" sz="1000" dirty="0"/>
          </a:p>
        </p:txBody>
      </p:sp>
      <p:sp>
        <p:nvSpPr>
          <p:cNvPr id="20" name="Text 11"/>
          <p:cNvSpPr/>
          <p:nvPr/>
        </p:nvSpPr>
        <p:spPr>
          <a:xfrm>
            <a:off x="5036344" y="1869877"/>
            <a:ext cx="3536156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Lembre-se: O Service Provider DEVE usar um Network Load Balancer para expor o serviço via PrivateLink.</a:t>
            </a:r>
            <a:endParaRPr lang="en-US" sz="8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394942"/>
            <a:ext cx="107156" cy="44827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036344" y="2359223"/>
            <a:ext cx="35361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Interface vs Gateway</a:t>
            </a:r>
            <a:endParaRPr lang="en-US" sz="1000" dirty="0"/>
          </a:p>
        </p:txBody>
      </p:sp>
      <p:sp>
        <p:nvSpPr>
          <p:cNvPr id="23" name="Text 13"/>
          <p:cNvSpPr/>
          <p:nvPr/>
        </p:nvSpPr>
        <p:spPr>
          <a:xfrm>
            <a:off x="5036344" y="2568178"/>
            <a:ext cx="3536156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PrivateLink utiliza Interface Endpoints (ENIs). Gateway Endpoints são apenas para S3 e DynamoDB.</a:t>
            </a:r>
            <a:endParaRPr lang="en-US" sz="8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3093244"/>
            <a:ext cx="107156" cy="44827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036344" y="3057525"/>
            <a:ext cx="35361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Overlapping IPs</a:t>
            </a:r>
            <a:endParaRPr lang="en-US" sz="1000" dirty="0"/>
          </a:p>
        </p:txBody>
      </p:sp>
      <p:sp>
        <p:nvSpPr>
          <p:cNvPr id="26" name="Text 15"/>
          <p:cNvSpPr/>
          <p:nvPr/>
        </p:nvSpPr>
        <p:spPr>
          <a:xfrm>
            <a:off x="5036344" y="3266480"/>
            <a:ext cx="3536156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 questão mencionar IPs iguais em VPCs diferentes, PrivateLink é quase sempre a resposta correta.</a:t>
            </a:r>
            <a:endParaRPr lang="en-US" sz="8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3791545"/>
            <a:ext cx="107156" cy="44827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036344" y="3755827"/>
            <a:ext cx="35361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Groups</a:t>
            </a:r>
            <a:endParaRPr lang="en-US" sz="1000" dirty="0"/>
          </a:p>
        </p:txBody>
      </p:sp>
      <p:sp>
        <p:nvSpPr>
          <p:cNvPr id="29" name="Text 17"/>
          <p:cNvSpPr/>
          <p:nvPr/>
        </p:nvSpPr>
        <p:spPr>
          <a:xfrm>
            <a:off x="5036344" y="3964781"/>
            <a:ext cx="3536156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Diferente do VPC Peering, você controla o acesso ao endpoint via Security Groups na própria ENI do consumidor.</a:t>
            </a:r>
            <a:endParaRPr lang="en-US" sz="850" dirty="0"/>
          </a:p>
        </p:txBody>
      </p:sp>
      <p:sp>
        <p:nvSpPr>
          <p:cNvPr id="30" name="Text 18"/>
          <p:cNvSpPr/>
          <p:nvPr/>
        </p:nvSpPr>
        <p:spPr>
          <a:xfrm>
            <a:off x="6840141" y="4650581"/>
            <a:ext cx="173235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TECHWITH</a:t>
            </a:r>
            <a:r>
              <a:rPr lang="en-US" sz="1200" b="1" dirty="0">
                <a:solidFill>
                  <a:srgbClr val="F9731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MARCOS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2026-06-10T00:42:02Z</dcterms:created>
  <dcterms:modified xsi:type="dcterms:W3CDTF">2026-06-10T00:42:02Z</dcterms:modified>
</cp:coreProperties>
</file>