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8" r:id="rId10"/>
    <p:sldId id="264" r:id="rId11"/>
    <p:sldId id="265" r:id="rId12"/>
    <p:sldId id="266" r:id="rId13"/>
    <p:sldId id="267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3" d="100"/>
          <a:sy n="143" d="100"/>
        </p:scale>
        <p:origin x="222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4548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28C2C-CE4B-2B95-EF63-3D59DD807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6AD355-3066-358C-7350-007A8D10B9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3B5570-F9F5-9ED5-DFF9-B11EC1C2C2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2FD767-2F95-9FD1-53E3-C3CBF4EBA1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44135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4.jpe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4.jpe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4.jpe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5.jpe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49.png"/><Relationship Id="rId3" Type="http://schemas.openxmlformats.org/officeDocument/2006/relationships/image" Target="../media/image4.jpeg"/><Relationship Id="rId7" Type="http://schemas.openxmlformats.org/officeDocument/2006/relationships/image" Target="../media/image43.png"/><Relationship Id="rId12" Type="http://schemas.openxmlformats.org/officeDocument/2006/relationships/image" Target="../media/image48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5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11" Type="http://schemas.openxmlformats.org/officeDocument/2006/relationships/image" Target="../media/image47.png"/><Relationship Id="rId5" Type="http://schemas.openxmlformats.org/officeDocument/2006/relationships/image" Target="../media/image41.png"/><Relationship Id="rId15" Type="http://schemas.openxmlformats.org/officeDocument/2006/relationships/image" Target="../media/image51.png"/><Relationship Id="rId10" Type="http://schemas.openxmlformats.org/officeDocument/2006/relationships/image" Target="../media/image46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Relationship Id="rId14" Type="http://schemas.openxmlformats.org/officeDocument/2006/relationships/image" Target="../media/image5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4.jpeg"/><Relationship Id="rId7" Type="http://schemas.openxmlformats.org/officeDocument/2006/relationships/image" Target="../media/image5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10" Type="http://schemas.openxmlformats.org/officeDocument/2006/relationships/image" Target="../media/image59.png"/><Relationship Id="rId4" Type="http://schemas.openxmlformats.org/officeDocument/2006/relationships/image" Target="../media/image53.png"/><Relationship Id="rId9" Type="http://schemas.openxmlformats.org/officeDocument/2006/relationships/image" Target="../media/image5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4" y="0"/>
            <a:ext cx="9144000" cy="51435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840750" y="829763"/>
            <a:ext cx="64" cy="883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80000"/>
              </a:lnSpc>
              <a:buNone/>
            </a:pPr>
            <a:endParaRPr lang="en-US" sz="700" dirty="0"/>
          </a:p>
        </p:txBody>
      </p:sp>
      <p:sp>
        <p:nvSpPr>
          <p:cNvPr id="8" name="Text 4"/>
          <p:cNvSpPr/>
          <p:nvPr/>
        </p:nvSpPr>
        <p:spPr>
          <a:xfrm>
            <a:off x="5206868" y="829763"/>
            <a:ext cx="64" cy="883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80000"/>
              </a:lnSpc>
              <a:buNone/>
            </a:pPr>
            <a:endParaRPr lang="en-US" sz="700" dirty="0"/>
          </a:p>
        </p:txBody>
      </p:sp>
      <p:sp>
        <p:nvSpPr>
          <p:cNvPr id="9" name="Text 5"/>
          <p:cNvSpPr/>
          <p:nvPr/>
        </p:nvSpPr>
        <p:spPr>
          <a:xfrm>
            <a:off x="1152823" y="1594145"/>
            <a:ext cx="6838355" cy="6386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4150" b="1" kern="0" spc="-2" dirty="0">
                <a:solidFill>
                  <a:srgbClr val="F97316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AWS TRANSIT GATEWAY</a:t>
            </a:r>
            <a:endParaRPr lang="en-US" sz="4150" dirty="0"/>
          </a:p>
        </p:txBody>
      </p:sp>
      <p:sp>
        <p:nvSpPr>
          <p:cNvPr id="10" name="Text 6"/>
          <p:cNvSpPr/>
          <p:nvPr/>
        </p:nvSpPr>
        <p:spPr>
          <a:xfrm>
            <a:off x="2252960" y="2356740"/>
            <a:ext cx="4638080" cy="377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4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Conectividade Centralizada</a:t>
            </a:r>
            <a:endParaRPr lang="en-US" sz="2450" dirty="0"/>
          </a:p>
        </p:txBody>
      </p:sp>
      <p:sp>
        <p:nvSpPr>
          <p:cNvPr id="11" name="Text 7"/>
          <p:cNvSpPr/>
          <p:nvPr/>
        </p:nvSpPr>
        <p:spPr>
          <a:xfrm>
            <a:off x="1943100" y="3299715"/>
            <a:ext cx="5257800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Simplifique a arquitetura de rede da sua organização AWS
conectando múltiplas VPCs e ambientes on-premises em escala.</a:t>
            </a:r>
            <a:endParaRPr lang="en-US" sz="1250" dirty="0"/>
          </a:p>
        </p:txBody>
      </p: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8B57234A-C6B1-4C92-369F-3F90531482E0}"/>
              </a:ext>
            </a:extLst>
          </p:cNvPr>
          <p:cNvGrpSpPr/>
          <p:nvPr/>
        </p:nvGrpSpPr>
        <p:grpSpPr>
          <a:xfrm>
            <a:off x="3587055" y="4208366"/>
            <a:ext cx="1969889" cy="344710"/>
            <a:chOff x="3587055" y="4208366"/>
            <a:chExt cx="1969889" cy="344710"/>
          </a:xfrm>
        </p:grpSpPr>
        <p:sp>
          <p:nvSpPr>
            <p:cNvPr id="12" name="Shape 8"/>
            <p:cNvSpPr/>
            <p:nvPr/>
          </p:nvSpPr>
          <p:spPr>
            <a:xfrm>
              <a:off x="3587055" y="4208366"/>
              <a:ext cx="1969889" cy="341114"/>
            </a:xfrm>
            <a:prstGeom prst="roundRect">
              <a:avLst/>
            </a:prstGeom>
            <a:solidFill>
              <a:srgbClr val="3B82F6">
                <a:alpha val="10000"/>
              </a:srgbClr>
            </a:solidFill>
            <a:ln w="9144">
              <a:solidFill>
                <a:srgbClr val="3B82F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 9"/>
            <p:cNvSpPr/>
            <p:nvPr/>
          </p:nvSpPr>
          <p:spPr>
            <a:xfrm>
              <a:off x="3587055" y="4208366"/>
              <a:ext cx="1969889" cy="344710"/>
            </a:xfrm>
            <a:prstGeom prst="rect">
              <a:avLst/>
            </a:prstGeom>
            <a:noFill/>
            <a:ln/>
          </p:spPr>
          <p:txBody>
            <a:bodyPr wrap="square" lIns="340233" tIns="102108" rIns="340233" bIns="102108" rtlCol="0" anchor="t">
              <a:spAutoFit/>
            </a:bodyPr>
            <a:lstStyle/>
            <a:p>
              <a:pPr marL="0" indent="0" algn="ctr">
                <a:buNone/>
              </a:pPr>
              <a:r>
                <a:rPr lang="en-US" sz="900" b="1" kern="0" spc="1" dirty="0">
                  <a:solidFill>
                    <a:srgbClr val="3B82F6"/>
                  </a:solidFill>
                  <a:latin typeface="Inter Bold" pitchFamily="34" charset="0"/>
                  <a:ea typeface="Inter Bold" pitchFamily="34" charset="-122"/>
                  <a:cs typeface="Inter Bold" pitchFamily="34" charset="-120"/>
                </a:rPr>
                <a:t>TECHWITHMARCOS</a:t>
              </a:r>
              <a:endParaRPr lang="en-US" sz="900" dirty="0"/>
            </a:p>
          </p:txBody>
        </p:sp>
      </p:grpSp>
      <p:pic>
        <p:nvPicPr>
          <p:cNvPr id="15" name="Imagem 14">
            <a:extLst>
              <a:ext uri="{FF2B5EF4-FFF2-40B4-BE49-F238E27FC236}">
                <a16:creationId xmlns:a16="http://schemas.microsoft.com/office/drawing/2014/main" id="{D09AE1C6-7F98-7564-A2FF-9042C20A4F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3439" y="594020"/>
            <a:ext cx="571500" cy="571500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4CAF7B96-4F39-ED1D-814C-FCC35A4B59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58553" y="590425"/>
            <a:ext cx="575096" cy="57509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1525" y="428625"/>
            <a:ext cx="7204472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O Problema: Gerenciar redes em escala é complexo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571500" y="1203722"/>
            <a:ext cx="3441976" cy="3175397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571500" y="1203722"/>
            <a:ext cx="3441976" cy="2857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57250" y="1489472"/>
            <a:ext cx="2870476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kern="0" spc="1" dirty="0">
                <a:solidFill>
                  <a:srgbClr val="3B82F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 CENÁRIO ATUAL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57250" y="1802011"/>
            <a:ext cx="2870476" cy="2263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Ambientes AWS modernos utilizam múltiplas contas e VPCs para isolamento e governança. 
 Sem uma solução centralizada, as equipes precisam criar </a:t>
            </a:r>
            <a:r>
              <a:rPr lang="en-US" sz="1100" b="1" dirty="0">
                <a:solidFill>
                  <a:srgbClr val="F9731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conexões ponto a ponto</a:t>
            </a:r>
            <a:r>
              <a:rPr lang="en-US" sz="11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(Peering) — gerando um emaranhado de rede difícil de administrar.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4442101" y="1375172"/>
            <a:ext cx="4130399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Impactos da falta de centralização:</a:t>
            </a:r>
            <a:endParaRPr lang="en-US" sz="12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2101" y="1832372"/>
            <a:ext cx="125016" cy="61079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709992" y="1796653"/>
            <a:ext cx="3862508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Complexidade Operacional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4709992" y="2057400"/>
            <a:ext cx="3862508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nova VPC exige dezenas de peerings e tabelas de rotas manuais.</a:t>
            </a:r>
            <a:endParaRPr lang="en-US" sz="9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2101" y="2693194"/>
            <a:ext cx="125016" cy="61079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709992" y="2657475"/>
            <a:ext cx="3862508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Baixa Escalabilidade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4709992" y="2918222"/>
            <a:ext cx="3862508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Arquiteturas mesh tornam-se impossíveis de gerenciar acima de 10 VPCs.</a:t>
            </a:r>
            <a:endParaRPr lang="en-US" sz="9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2101" y="3554016"/>
            <a:ext cx="125016" cy="610791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709992" y="3518297"/>
            <a:ext cx="3862508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Custos Elevados</a:t>
            </a:r>
            <a:endParaRPr lang="en-US" sz="1100" dirty="0"/>
          </a:p>
        </p:txBody>
      </p:sp>
      <p:sp>
        <p:nvSpPr>
          <p:cNvPr id="17" name="Text 11"/>
          <p:cNvSpPr/>
          <p:nvPr/>
        </p:nvSpPr>
        <p:spPr>
          <a:xfrm>
            <a:off x="4709992" y="3779044"/>
            <a:ext cx="3862508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Overhead operacional e risco de erros humanos aumentam drasticamente.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1525" y="428625"/>
            <a:ext cx="4566642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O que é o AWS Transit Gateway?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571500" y="1132284"/>
            <a:ext cx="4208311" cy="155019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571500" y="1132284"/>
            <a:ext cx="28575" cy="155019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85813" y="1503759"/>
            <a:ext cx="3779686" cy="11787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</a:t>
            </a:r>
            <a:r>
              <a:rPr lang="en-US" sz="1100" b="1" dirty="0">
                <a:solidFill>
                  <a:srgbClr val="CBD5E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AWS Transit Gateway (TGW)</a:t>
            </a:r>
            <a:r>
              <a:rPr lang="en-US" sz="11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é um serviço que permite conectar VPCs e ambientes on-premises através de um </a:t>
            </a:r>
            <a:r>
              <a:rPr lang="en-US" sz="1100" b="1" dirty="0">
                <a:solidFill>
                  <a:srgbClr val="F9731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hub central</a:t>
            </a:r>
            <a:r>
              <a:rPr lang="en-US" sz="11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eliminando a necessidade de conexões ponto a ponto complexas.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71500" y="2968228"/>
            <a:ext cx="420831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Hub-and-Spoke Nativo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71500" y="3177183"/>
            <a:ext cx="3370064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Modelo centralizado para gestão de centenas de VPCs.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571500" y="3511153"/>
            <a:ext cx="420831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Roteamento Transitivo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71500" y="3720108"/>
            <a:ext cx="3814763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Permite que VPCs se comuniquem através do gateway central.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571500" y="4054078"/>
            <a:ext cx="420831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Integração Multi-Account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71500" y="4263033"/>
            <a:ext cx="3500438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Compartilhamento simples via AWS Organizations e RAM.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71500" y="4597003"/>
            <a:ext cx="420831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Segurança e Controle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71500" y="4805958"/>
            <a:ext cx="3141464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Totalmente compatível com IAM, SCPs e CloudTrail.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1525" y="428625"/>
            <a:ext cx="4530923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VPC Peering vs Transit Gateway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571500" y="1203722"/>
            <a:ext cx="3857625" cy="3529013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571500" y="1203722"/>
            <a:ext cx="3857625" cy="28575"/>
          </a:xfrm>
          <a:prstGeom prst="rect">
            <a:avLst/>
          </a:prstGeom>
          <a:solidFill>
            <a:srgbClr val="4755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57250" y="1489472"/>
            <a:ext cx="3286125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kern="0" spc="1" dirty="0">
                <a:solidFill>
                  <a:srgbClr val="3B82F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MODELO TRADICIONAL</a:t>
            </a:r>
            <a:endParaRPr lang="en-US" sz="8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1755577"/>
            <a:ext cx="200025" cy="20002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64431" y="1734145"/>
            <a:ext cx="1241227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VPC Peering</a:t>
            </a:r>
            <a:endParaRPr lang="en-US" sz="14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2219920"/>
            <a:ext cx="100013" cy="10001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64419" y="2191345"/>
            <a:ext cx="2703909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Ideal para baixa latência entre poucas VPCs.</a:t>
            </a:r>
            <a:endParaRPr lang="en-US" sz="9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2542812"/>
            <a:ext cx="62508" cy="100013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26914" y="2514237"/>
            <a:ext cx="2039541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Não possui roteamento transitivo.</a:t>
            </a:r>
            <a:endParaRPr lang="en-US" sz="9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250" y="2865704"/>
            <a:ext cx="62508" cy="100013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026914" y="2837129"/>
            <a:ext cx="2846784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Crescimento exponencial de conexões (Mesh).</a:t>
            </a:r>
            <a:endParaRPr lang="en-US" sz="95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250" y="3188596"/>
            <a:ext cx="62508" cy="100013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026914" y="3160021"/>
            <a:ext cx="2855714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Gestão complexa em ambientes multi-account.</a:t>
            </a:r>
            <a:endParaRPr lang="en-US" sz="950" dirty="0"/>
          </a:p>
        </p:txBody>
      </p:sp>
      <p:sp>
        <p:nvSpPr>
          <p:cNvPr id="17" name="Shape 9"/>
          <p:cNvSpPr/>
          <p:nvPr/>
        </p:nvSpPr>
        <p:spPr>
          <a:xfrm>
            <a:off x="4714875" y="1203722"/>
            <a:ext cx="3857625" cy="3529013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0"/>
          <p:cNvSpPr/>
          <p:nvPr/>
        </p:nvSpPr>
        <p:spPr>
          <a:xfrm>
            <a:off x="4714875" y="1203722"/>
            <a:ext cx="3857625" cy="2857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1"/>
          <p:cNvSpPr/>
          <p:nvPr/>
        </p:nvSpPr>
        <p:spPr>
          <a:xfrm>
            <a:off x="5000625" y="1489472"/>
            <a:ext cx="3286125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kern="0" spc="1" dirty="0">
                <a:solidFill>
                  <a:srgbClr val="3B82F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MODELO MODERNO</a:t>
            </a:r>
            <a:endParaRPr lang="en-US" sz="800" dirty="0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00625" y="1755577"/>
            <a:ext cx="150019" cy="200025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5257800" y="1734145"/>
            <a:ext cx="1614488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Transit Gateway</a:t>
            </a:r>
            <a:endParaRPr lang="en-US" sz="1400" dirty="0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0625" y="2219920"/>
            <a:ext cx="100013" cy="100013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5207794" y="2191345"/>
            <a:ext cx="2598539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Hub-and-Spoke: Roteamento centralizado.</a:t>
            </a:r>
            <a:endParaRPr lang="en-US" sz="950" dirty="0"/>
          </a:p>
        </p:txBody>
      </p:sp>
      <p:pic>
        <p:nvPicPr>
          <p:cNvPr id="24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00625" y="2542812"/>
            <a:ext cx="100013" cy="100013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5207794" y="2514237"/>
            <a:ext cx="2243138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Suporta roteamento transitivo nativo.</a:t>
            </a:r>
            <a:endParaRPr lang="en-US" sz="950" dirty="0"/>
          </a:p>
        </p:txBody>
      </p:sp>
      <p:pic>
        <p:nvPicPr>
          <p:cNvPr id="26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00625" y="2865704"/>
            <a:ext cx="100013" cy="100013"/>
          </a:xfrm>
          <a:prstGeom prst="rect">
            <a:avLst/>
          </a:prstGeom>
        </p:spPr>
      </p:pic>
      <p:sp>
        <p:nvSpPr>
          <p:cNvPr id="27" name="Text 15"/>
          <p:cNvSpPr/>
          <p:nvPr/>
        </p:nvSpPr>
        <p:spPr>
          <a:xfrm>
            <a:off x="5207794" y="2837129"/>
            <a:ext cx="2873573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Escalabilidade corporativa (centenas de VPCs).</a:t>
            </a:r>
            <a:endParaRPr lang="en-US" sz="950" dirty="0"/>
          </a:p>
        </p:txBody>
      </p:sp>
      <p:pic>
        <p:nvPicPr>
          <p:cNvPr id="28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00625" y="3188596"/>
            <a:ext cx="100013" cy="100013"/>
          </a:xfrm>
          <a:prstGeom prst="rect">
            <a:avLst/>
          </a:prstGeom>
        </p:spPr>
      </p:pic>
      <p:sp>
        <p:nvSpPr>
          <p:cNvPr id="29" name="Text 16"/>
          <p:cNvSpPr/>
          <p:nvPr/>
        </p:nvSpPr>
        <p:spPr>
          <a:xfrm>
            <a:off x="5207794" y="3160021"/>
            <a:ext cx="3020020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Integração nativa com AWS Organizations e RAM.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1525" y="428625"/>
            <a:ext cx="3950494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Arquitetura Hub-and-Spoke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571500" y="1132284"/>
            <a:ext cx="3857625" cy="29718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571500" y="1132284"/>
            <a:ext cx="3857625" cy="2857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00100" y="1360884"/>
            <a:ext cx="3400425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kern="0" spc="1" dirty="0">
                <a:solidFill>
                  <a:srgbClr val="3B82F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 MODELO CENTRALIZADO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00100" y="1612702"/>
            <a:ext cx="3400425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Como Funciona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00100" y="1998464"/>
            <a:ext cx="3400425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Transit Gateway atua como o </a:t>
            </a:r>
            <a:r>
              <a:rPr lang="en-US" sz="900" b="1" dirty="0">
                <a:solidFill>
                  <a:srgbClr val="CBD5E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Hub</a:t>
            </a:r>
            <a:r>
              <a:rPr lang="en-US" sz="9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(ponto central), enquanto as VPCs e conexões remotas são os </a:t>
            </a:r>
            <a:r>
              <a:rPr lang="en-US" sz="900" b="1" dirty="0">
                <a:solidFill>
                  <a:srgbClr val="CBD5E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Spokes</a:t>
            </a:r>
            <a:r>
              <a:rPr lang="en-US" sz="9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(extremidades).</a:t>
            </a:r>
            <a:endParaRPr lang="en-US" sz="9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-6840000">
            <a:off x="1728776" y="2787055"/>
            <a:ext cx="342924" cy="342924"/>
          </a:xfrm>
          <a:prstGeom prst="rect">
            <a:avLst/>
          </a:prstGeom>
        </p:spPr>
      </p:pic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0" y="2787067"/>
            <a:ext cx="342900" cy="342900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43213" y="2787067"/>
            <a:ext cx="428625" cy="3429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00100" y="3301417"/>
            <a:ext cx="3400425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CBD5E1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ambiente estabelece uma única conexão com o Hub, simplificando drasticamente o roteamento global e a visibilidade.</a:t>
            </a:r>
            <a:endParaRPr lang="en-US" sz="850" dirty="0"/>
          </a:p>
        </p:txBody>
      </p:sp>
      <p:sp>
        <p:nvSpPr>
          <p:cNvPr id="13" name="Text 7"/>
          <p:cNvSpPr/>
          <p:nvPr/>
        </p:nvSpPr>
        <p:spPr>
          <a:xfrm>
            <a:off x="4714875" y="1303734"/>
            <a:ext cx="3857625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Ganhos de Governança:</a:t>
            </a:r>
            <a:endParaRPr lang="en-US" sz="12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14875" y="1710928"/>
            <a:ext cx="112514" cy="12858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4941689" y="1682353"/>
            <a:ext cx="3630811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Redução de Complexidade</a:t>
            </a:r>
            <a:endParaRPr lang="en-US" sz="900" dirty="0"/>
          </a:p>
        </p:txBody>
      </p:sp>
      <p:sp>
        <p:nvSpPr>
          <p:cNvPr id="16" name="Text 9"/>
          <p:cNvSpPr/>
          <p:nvPr/>
        </p:nvSpPr>
        <p:spPr>
          <a:xfrm>
            <a:off x="4941689" y="1866305"/>
            <a:ext cx="3630811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Menos conexões para monitorar e administrar em comparação ao Peering.</a:t>
            </a:r>
            <a:endParaRPr lang="en-US" sz="85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14875" y="2312789"/>
            <a:ext cx="112514" cy="128588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4941689" y="2284214"/>
            <a:ext cx="3630811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Gestão Centralizada</a:t>
            </a:r>
            <a:endParaRPr lang="en-US" sz="900" dirty="0"/>
          </a:p>
        </p:txBody>
      </p:sp>
      <p:sp>
        <p:nvSpPr>
          <p:cNvPr id="19" name="Text 11"/>
          <p:cNvSpPr/>
          <p:nvPr/>
        </p:nvSpPr>
        <p:spPr>
          <a:xfrm>
            <a:off x="4941689" y="2468166"/>
            <a:ext cx="3630811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Equipe de rede controla todo o tráfego em um único ponto regional.</a:t>
            </a:r>
            <a:endParaRPr lang="en-US" sz="850" dirty="0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14875" y="2914650"/>
            <a:ext cx="112514" cy="128588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4941689" y="2886075"/>
            <a:ext cx="3630811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Escalabilidade Corporativa</a:t>
            </a:r>
            <a:endParaRPr lang="en-US" sz="900" dirty="0"/>
          </a:p>
        </p:txBody>
      </p:sp>
      <p:sp>
        <p:nvSpPr>
          <p:cNvPr id="22" name="Text 13"/>
          <p:cNvSpPr/>
          <p:nvPr/>
        </p:nvSpPr>
        <p:spPr>
          <a:xfrm>
            <a:off x="4941689" y="3070027"/>
            <a:ext cx="3630811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Suporta centenas de VPCs sem degradação da performance operacional.</a:t>
            </a:r>
            <a:endParaRPr lang="en-US" sz="850" dirty="0"/>
          </a:p>
        </p:txBody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14875" y="3516511"/>
            <a:ext cx="112514" cy="128588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4941689" y="3487936"/>
            <a:ext cx="3630811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Isolamento Nativo</a:t>
            </a:r>
            <a:endParaRPr lang="en-US" sz="900" dirty="0"/>
          </a:p>
        </p:txBody>
      </p:sp>
      <p:sp>
        <p:nvSpPr>
          <p:cNvPr id="25" name="Text 15"/>
          <p:cNvSpPr/>
          <p:nvPr/>
        </p:nvSpPr>
        <p:spPr>
          <a:xfrm>
            <a:off x="4941689" y="3671888"/>
            <a:ext cx="3630811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Facilita a segmentação entre ambientes de Prod, Dev e Shared Services.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1525" y="428625"/>
            <a:ext cx="5527477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Multi-Account com AWS Organizations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571500" y="1132284"/>
            <a:ext cx="3821906" cy="33147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571500" y="1132284"/>
            <a:ext cx="3821906" cy="2857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57250" y="1418034"/>
            <a:ext cx="3250406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kern="0" spc="1" dirty="0">
                <a:solidFill>
                  <a:srgbClr val="3B82F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ESTRATÉGIA CORPORATIVA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57250" y="1773436"/>
            <a:ext cx="3250406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Arquitetura de Conta Central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57250" y="2159198"/>
            <a:ext cx="325040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 vez de gerenciar gateways isolados, utilize uma </a:t>
            </a:r>
            <a:r>
              <a:rPr lang="en-US" sz="1000" b="1" dirty="0">
                <a:solidFill>
                  <a:srgbClr val="CBD5E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Conta de Networking</a:t>
            </a:r>
            <a:r>
              <a:rPr lang="en-US" sz="10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centralizada para hospedar o Transit Gateway da organização.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857250" y="3059311"/>
            <a:ext cx="3250406" cy="573286"/>
          </a:xfrm>
          <a:prstGeom prst="rect">
            <a:avLst/>
          </a:prstGeom>
          <a:solidFill>
            <a:srgbClr val="3B82F6">
              <a:alpha val="10000"/>
            </a:srgbClr>
          </a:solidFill>
          <a:ln w="9144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125" y="3324523"/>
            <a:ext cx="150019" cy="17145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57300" y="3202186"/>
            <a:ext cx="2168128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AWS Resource Access Manager (RAM)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1257300" y="3375422"/>
            <a:ext cx="2707481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Compartilhamento seguro de recursos entre contas da mesma organização.</a:t>
            </a:r>
            <a:endParaRPr lang="en-US" sz="750" dirty="0"/>
          </a:p>
        </p:txBody>
      </p:sp>
      <p:sp>
        <p:nvSpPr>
          <p:cNvPr id="13" name="Text 9"/>
          <p:cNvSpPr/>
          <p:nvPr/>
        </p:nvSpPr>
        <p:spPr>
          <a:xfrm>
            <a:off x="4750594" y="1303734"/>
            <a:ext cx="3821906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Vantagens da Centralização:</a:t>
            </a:r>
            <a:endParaRPr lang="en-US" sz="12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0594" y="1760934"/>
            <a:ext cx="125016" cy="59650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018484" y="1725216"/>
            <a:ext cx="3554016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Redução de Custos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5018484" y="1971675"/>
            <a:ext cx="3554016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Pague por apenas um gateway centralizado em vez de múltiplos recursos duplicados por conta.</a:t>
            </a:r>
            <a:endParaRPr lang="en-US" sz="95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0594" y="2643188"/>
            <a:ext cx="125016" cy="59650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018484" y="2607469"/>
            <a:ext cx="3554016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Governança Unificada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5018484" y="2853928"/>
            <a:ext cx="3554016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equipe de rede mantém controle total sobre as tabelas de rotas e políticas de segurança.</a:t>
            </a:r>
            <a:endParaRPr lang="en-US" sz="95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0594" y="3525441"/>
            <a:ext cx="125016" cy="596503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018484" y="3489722"/>
            <a:ext cx="3554016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Provisionamento Ágil</a:t>
            </a:r>
            <a:endParaRPr lang="en-US" sz="1100" dirty="0"/>
          </a:p>
        </p:txBody>
      </p:sp>
      <p:sp>
        <p:nvSpPr>
          <p:cNvPr id="22" name="Text 15"/>
          <p:cNvSpPr/>
          <p:nvPr/>
        </p:nvSpPr>
        <p:spPr>
          <a:xfrm>
            <a:off x="5018484" y="3736181"/>
            <a:ext cx="3554016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Novas contas se conectam instantaneamente ao ecossistema corporativo via compartilhamento RAM.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1525" y="428625"/>
            <a:ext cx="6284714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Conectividade com Datacenter On-Premises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571500" y="1203722"/>
            <a:ext cx="3857625" cy="302895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571500" y="1203722"/>
            <a:ext cx="3857625" cy="2857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57250" y="1489472"/>
            <a:ext cx="3286125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kern="0" spc="1" dirty="0">
                <a:solidFill>
                  <a:srgbClr val="3B82F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IMPLEMENTAÇÃO RÁPIDA</a:t>
            </a:r>
            <a:endParaRPr lang="en-US" sz="8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1755577"/>
            <a:ext cx="200025" cy="20002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64431" y="1734145"/>
            <a:ext cx="1637705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Site-to-Site VPN</a:t>
            </a:r>
            <a:endParaRPr lang="en-US" sz="14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2184202"/>
            <a:ext cx="114300" cy="33145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78706" y="2155627"/>
            <a:ext cx="3064669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Conexão segura via Internet pública usando túneis IPsec.</a:t>
            </a:r>
            <a:endParaRPr lang="en-US" sz="9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2687110"/>
            <a:ext cx="114300" cy="331459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78706" y="2658535"/>
            <a:ext cx="3064669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Ideal para backup ou conectividade de baixo custo.</a:t>
            </a:r>
            <a:endParaRPr lang="en-US" sz="9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250" y="3190019"/>
            <a:ext cx="114300" cy="331459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078706" y="3161444"/>
            <a:ext cx="3064669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Configuração em minutos para ambientes híbridos.</a:t>
            </a:r>
            <a:endParaRPr lang="en-US" sz="950" dirty="0"/>
          </a:p>
        </p:txBody>
      </p:sp>
      <p:sp>
        <p:nvSpPr>
          <p:cNvPr id="15" name="Shape 8"/>
          <p:cNvSpPr/>
          <p:nvPr/>
        </p:nvSpPr>
        <p:spPr>
          <a:xfrm>
            <a:off x="4714875" y="1203722"/>
            <a:ext cx="3857625" cy="302895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9"/>
          <p:cNvSpPr/>
          <p:nvPr/>
        </p:nvSpPr>
        <p:spPr>
          <a:xfrm>
            <a:off x="4714875" y="1203722"/>
            <a:ext cx="3857625" cy="2857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0"/>
          <p:cNvSpPr/>
          <p:nvPr/>
        </p:nvSpPr>
        <p:spPr>
          <a:xfrm>
            <a:off x="5000625" y="1489472"/>
            <a:ext cx="3286125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kern="0" spc="1" dirty="0">
                <a:solidFill>
                  <a:srgbClr val="3B82F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ALTA PERFORMANCE</a:t>
            </a:r>
            <a:endParaRPr lang="en-US" sz="8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00625" y="1755577"/>
            <a:ext cx="250031" cy="200025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357813" y="1734145"/>
            <a:ext cx="1482328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Direct Connect</a:t>
            </a:r>
            <a:endParaRPr lang="en-US" sz="1400" dirty="0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0625" y="2184202"/>
            <a:ext cx="114300" cy="331459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5222081" y="2155627"/>
            <a:ext cx="3064669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Conexão física dedicada com largura de banda consistente.</a:t>
            </a:r>
            <a:endParaRPr lang="en-US" sz="950" dirty="0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00625" y="2687110"/>
            <a:ext cx="114300" cy="331459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5222081" y="2658535"/>
            <a:ext cx="3064669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Menor latência e maior estabilidade para cargas críticas.</a:t>
            </a:r>
            <a:endParaRPr lang="en-US" sz="950" dirty="0"/>
          </a:p>
        </p:txBody>
      </p:sp>
      <p:pic>
        <p:nvPicPr>
          <p:cNvPr id="24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00625" y="3190019"/>
            <a:ext cx="114300" cy="331459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5222081" y="3161444"/>
            <a:ext cx="3064669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Suporte a Transit VIF para conexão direta com o TGW.</a:t>
            </a:r>
            <a:endParaRPr lang="en-US" sz="950" dirty="0"/>
          </a:p>
        </p:txBody>
      </p:sp>
      <p:sp>
        <p:nvSpPr>
          <p:cNvPr id="26" name="Shape 15"/>
          <p:cNvSpPr/>
          <p:nvPr/>
        </p:nvSpPr>
        <p:spPr>
          <a:xfrm>
            <a:off x="571500" y="4545211"/>
            <a:ext cx="8001000" cy="312539"/>
          </a:xfrm>
          <a:prstGeom prst="rect">
            <a:avLst/>
          </a:prstGeom>
          <a:solidFill>
            <a:srgbClr val="3B82F6">
              <a:alpha val="10000"/>
            </a:srgbClr>
          </a:solidFill>
          <a:ln w="9144">
            <a:solidFill>
              <a:srgbClr val="3B82F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16"/>
          <p:cNvSpPr/>
          <p:nvPr/>
        </p:nvSpPr>
        <p:spPr>
          <a:xfrm>
            <a:off x="571500" y="4545211"/>
            <a:ext cx="8001000" cy="312539"/>
          </a:xfrm>
          <a:prstGeom prst="rect">
            <a:avLst/>
          </a:prstGeom>
          <a:noFill/>
          <a:ln/>
        </p:spPr>
        <p:txBody>
          <a:bodyPr wrap="square" lIns="255143" tIns="170053" rIns="255143" bIns="0" rtlCol="0" anchor="t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B82F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 Transit Gateway centraliza o acesso ao Datacenter para todas as VPCs da organização simultaneamente.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1525" y="428625"/>
            <a:ext cx="5738217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Inspection VPC: Segurança Centralizada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571500" y="1132284"/>
            <a:ext cx="3900488" cy="1728788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571500" y="1132284"/>
            <a:ext cx="3900488" cy="2857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85813" y="1275159"/>
            <a:ext cx="3471863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kern="0" spc="1" dirty="0">
                <a:solidFill>
                  <a:srgbClr val="3B82F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 CONCEITO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85813" y="1541264"/>
            <a:ext cx="3471863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Crie uma VPC dedicada para inspecionar todo o tráfego entre VPCs ou entre a nuvem e a internet. Todo o tráfego é </a:t>
            </a:r>
            <a:r>
              <a:rPr lang="en-US" sz="900" b="1" dirty="0">
                <a:solidFill>
                  <a:srgbClr val="F9731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redirecionado via TGW</a:t>
            </a:r>
            <a:r>
              <a:rPr lang="en-US" sz="9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para esta zona de segurança.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571500" y="2946797"/>
            <a:ext cx="3900488" cy="1728788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71500" y="2946797"/>
            <a:ext cx="3900488" cy="28575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85813" y="3089672"/>
            <a:ext cx="3471863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kern="0" spc="1" dirty="0">
                <a:solidFill>
                  <a:srgbClr val="F9731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BENEFÍCIOS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785813" y="3355777"/>
            <a:ext cx="3471863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Monitoramento simplificado e consistente.
• Redução de custos com licenças de firewall.
• Governança centralizada de políticas de rede.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571500" y="4850860"/>
            <a:ext cx="1354577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672013" y="1132284"/>
            <a:ext cx="3900488" cy="2871788"/>
          </a:xfrm>
          <a:prstGeom prst="rect">
            <a:avLst/>
          </a:prstGeom>
          <a:solidFill>
            <a:srgbClr val="1E293B">
              <a:alpha val="50000"/>
            </a:srgbClr>
          </a:solidFill>
          <a:ln w="9144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5722144" y="1583234"/>
            <a:ext cx="1800225" cy="294680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722144" y="1583234"/>
            <a:ext cx="1800225" cy="294680"/>
          </a:xfrm>
          <a:prstGeom prst="rect">
            <a:avLst/>
          </a:prstGeom>
          <a:noFill/>
          <a:ln/>
        </p:spPr>
        <p:txBody>
          <a:bodyPr wrap="square" lIns="0" tIns="85090" rIns="0" bIns="85090" rtlCol="0" anchor="t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VPC ORIGEM</a:t>
            </a:r>
            <a:endParaRPr lang="en-US" sz="8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9748" y="1927920"/>
            <a:ext cx="125016" cy="142875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5722144" y="2129730"/>
            <a:ext cx="1800225" cy="294680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5722144" y="2129730"/>
            <a:ext cx="1800225" cy="294680"/>
          </a:xfrm>
          <a:prstGeom prst="rect">
            <a:avLst/>
          </a:prstGeom>
          <a:noFill/>
          <a:ln/>
        </p:spPr>
        <p:txBody>
          <a:bodyPr wrap="square" lIns="0" tIns="85090" rIns="0" bIns="85090" rtlCol="0" anchor="t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TRANSIT GATEWAY</a:t>
            </a:r>
            <a:endParaRPr lang="en-US" sz="8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9748" y="2474416"/>
            <a:ext cx="125016" cy="142875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5722144" y="2676227"/>
            <a:ext cx="1800225" cy="294680"/>
          </a:xfrm>
          <a:prstGeom prst="rect">
            <a:avLst/>
          </a:prstGeom>
          <a:solidFill>
            <a:srgbClr val="F97316">
              <a:alpha val="10000"/>
            </a:srgbClr>
          </a:solidFill>
          <a:ln w="9144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6"/>
          <p:cNvSpPr/>
          <p:nvPr/>
        </p:nvSpPr>
        <p:spPr>
          <a:xfrm>
            <a:off x="5722144" y="2676227"/>
            <a:ext cx="1800225" cy="294680"/>
          </a:xfrm>
          <a:prstGeom prst="rect">
            <a:avLst/>
          </a:prstGeom>
          <a:noFill/>
          <a:ln/>
        </p:spPr>
        <p:txBody>
          <a:bodyPr wrap="square" lIns="0" tIns="85090" rIns="0" bIns="85090" rtlCol="0" anchor="t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INSPECTION VPC (FIREWALL)</a:t>
            </a:r>
            <a:endParaRPr lang="en-US" sz="80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9748" y="3020913"/>
            <a:ext cx="125016" cy="142875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5722144" y="3222724"/>
            <a:ext cx="1800225" cy="294680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8"/>
          <p:cNvSpPr/>
          <p:nvPr/>
        </p:nvSpPr>
        <p:spPr>
          <a:xfrm>
            <a:off x="5722144" y="3222724"/>
            <a:ext cx="1800225" cy="294680"/>
          </a:xfrm>
          <a:prstGeom prst="rect">
            <a:avLst/>
          </a:prstGeom>
          <a:noFill/>
          <a:ln/>
        </p:spPr>
        <p:txBody>
          <a:bodyPr wrap="square" lIns="0" tIns="85090" rIns="0" bIns="85090" rtlCol="0" anchor="t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VPC DESTINO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7C67E3-D2E6-4FDF-4348-C2C0590B0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BA3C8C23-E323-A127-FAA3-FBA9016A1B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D181D31F-F8DB-9389-13E7-C641DC9D2DD4}"/>
              </a:ext>
            </a:extLst>
          </p:cNvPr>
          <p:cNvSpPr/>
          <p:nvPr/>
        </p:nvSpPr>
        <p:spPr>
          <a:xfrm>
            <a:off x="771525" y="428625"/>
            <a:ext cx="5738217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Inspection VPC: Segurança Centralizada</a:t>
            </a:r>
            <a:endParaRPr lang="en-US" sz="20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96FE6A4B-08FB-390E-80CC-52A587456ADC}"/>
              </a:ext>
            </a:extLst>
          </p:cNvPr>
          <p:cNvSpPr/>
          <p:nvPr/>
        </p:nvSpPr>
        <p:spPr>
          <a:xfrm>
            <a:off x="571500" y="4850860"/>
            <a:ext cx="1354577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338B011C-F067-E9E0-2D6F-AFA534293451}"/>
              </a:ext>
            </a:extLst>
          </p:cNvPr>
          <p:cNvSpPr/>
          <p:nvPr/>
        </p:nvSpPr>
        <p:spPr>
          <a:xfrm>
            <a:off x="6622257" y="1511796"/>
            <a:ext cx="1800225" cy="294680"/>
          </a:xfrm>
          <a:prstGeom prst="rect">
            <a:avLst/>
          </a:prstGeom>
          <a:noFill/>
          <a:ln/>
        </p:spPr>
        <p:txBody>
          <a:bodyPr wrap="square" lIns="0" tIns="85090" rIns="0" bIns="85090" rtlCol="0" anchor="t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VPC ORIGEM</a:t>
            </a:r>
            <a:endParaRPr lang="en-US" sz="800" dirty="0"/>
          </a:p>
        </p:txBody>
      </p:sp>
      <p:pic>
        <p:nvPicPr>
          <p:cNvPr id="16" name="Image 1" descr="preencoded.png">
            <a:extLst>
              <a:ext uri="{FF2B5EF4-FFF2-40B4-BE49-F238E27FC236}">
                <a16:creationId xmlns:a16="http://schemas.microsoft.com/office/drawing/2014/main" id="{33AE9660-5EF8-659E-2835-2C81B8B4DD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9861" y="1856482"/>
            <a:ext cx="125016" cy="142875"/>
          </a:xfrm>
          <a:prstGeom prst="rect">
            <a:avLst/>
          </a:prstGeom>
        </p:spPr>
      </p:pic>
      <p:sp>
        <p:nvSpPr>
          <p:cNvPr id="18" name="Text 14">
            <a:extLst>
              <a:ext uri="{FF2B5EF4-FFF2-40B4-BE49-F238E27FC236}">
                <a16:creationId xmlns:a16="http://schemas.microsoft.com/office/drawing/2014/main" id="{F893CA2C-A373-7A09-D762-32C35B9555C5}"/>
              </a:ext>
            </a:extLst>
          </p:cNvPr>
          <p:cNvSpPr/>
          <p:nvPr/>
        </p:nvSpPr>
        <p:spPr>
          <a:xfrm>
            <a:off x="6622257" y="2058292"/>
            <a:ext cx="1800225" cy="294680"/>
          </a:xfrm>
          <a:prstGeom prst="rect">
            <a:avLst/>
          </a:prstGeom>
          <a:noFill/>
          <a:ln/>
        </p:spPr>
        <p:txBody>
          <a:bodyPr wrap="square" lIns="0" tIns="85090" rIns="0" bIns="85090" rtlCol="0" anchor="t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TRANSIT GATEWAY</a:t>
            </a:r>
            <a:endParaRPr lang="en-US" sz="800" dirty="0"/>
          </a:p>
        </p:txBody>
      </p:sp>
      <p:pic>
        <p:nvPicPr>
          <p:cNvPr id="19" name="Image 2" descr="preencoded.png">
            <a:extLst>
              <a:ext uri="{FF2B5EF4-FFF2-40B4-BE49-F238E27FC236}">
                <a16:creationId xmlns:a16="http://schemas.microsoft.com/office/drawing/2014/main" id="{2709877E-CC8E-A09C-DA4B-FC49EB4A11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9861" y="2402978"/>
            <a:ext cx="125016" cy="142875"/>
          </a:xfrm>
          <a:prstGeom prst="rect">
            <a:avLst/>
          </a:prstGeom>
        </p:spPr>
      </p:pic>
      <p:sp>
        <p:nvSpPr>
          <p:cNvPr id="21" name="Text 16">
            <a:extLst>
              <a:ext uri="{FF2B5EF4-FFF2-40B4-BE49-F238E27FC236}">
                <a16:creationId xmlns:a16="http://schemas.microsoft.com/office/drawing/2014/main" id="{EB5E567F-5CAD-028E-F7A8-C79D86391037}"/>
              </a:ext>
            </a:extLst>
          </p:cNvPr>
          <p:cNvSpPr/>
          <p:nvPr/>
        </p:nvSpPr>
        <p:spPr>
          <a:xfrm>
            <a:off x="6622257" y="2604789"/>
            <a:ext cx="1800225" cy="294680"/>
          </a:xfrm>
          <a:prstGeom prst="rect">
            <a:avLst/>
          </a:prstGeom>
          <a:noFill/>
          <a:ln/>
        </p:spPr>
        <p:txBody>
          <a:bodyPr wrap="square" lIns="0" tIns="85090" rIns="0" bIns="85090" rtlCol="0" anchor="t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INSPECTION VPC (FIREWALL)</a:t>
            </a:r>
            <a:endParaRPr lang="en-US" sz="800" dirty="0"/>
          </a:p>
        </p:txBody>
      </p:sp>
      <p:pic>
        <p:nvPicPr>
          <p:cNvPr id="22" name="Image 3" descr="preencoded.png">
            <a:extLst>
              <a:ext uri="{FF2B5EF4-FFF2-40B4-BE49-F238E27FC236}">
                <a16:creationId xmlns:a16="http://schemas.microsoft.com/office/drawing/2014/main" id="{5F9CA23A-6579-168E-7883-865E9F9FD2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9861" y="2949475"/>
            <a:ext cx="125016" cy="142875"/>
          </a:xfrm>
          <a:prstGeom prst="rect">
            <a:avLst/>
          </a:prstGeom>
        </p:spPr>
      </p:pic>
      <p:sp>
        <p:nvSpPr>
          <p:cNvPr id="24" name="Text 18">
            <a:extLst>
              <a:ext uri="{FF2B5EF4-FFF2-40B4-BE49-F238E27FC236}">
                <a16:creationId xmlns:a16="http://schemas.microsoft.com/office/drawing/2014/main" id="{F48D07DD-9788-BEF8-3A81-DEC17DFD018E}"/>
              </a:ext>
            </a:extLst>
          </p:cNvPr>
          <p:cNvSpPr/>
          <p:nvPr/>
        </p:nvSpPr>
        <p:spPr>
          <a:xfrm>
            <a:off x="6622257" y="3151286"/>
            <a:ext cx="1800225" cy="294680"/>
          </a:xfrm>
          <a:prstGeom prst="rect">
            <a:avLst/>
          </a:prstGeom>
          <a:noFill/>
          <a:ln/>
        </p:spPr>
        <p:txBody>
          <a:bodyPr wrap="square" lIns="0" tIns="85090" rIns="0" bIns="85090" rtlCol="0" anchor="t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VPC DESTINO</a:t>
            </a:r>
            <a:endParaRPr lang="en-US" sz="800" dirty="0"/>
          </a:p>
        </p:txBody>
      </p:sp>
      <p:pic>
        <p:nvPicPr>
          <p:cNvPr id="1026" name="Picture 2" descr="Architecture diagram of traffic inspection between two spoke VPCs and an appliance VPC">
            <a:extLst>
              <a:ext uri="{FF2B5EF4-FFF2-40B4-BE49-F238E27FC236}">
                <a16:creationId xmlns:a16="http://schemas.microsoft.com/office/drawing/2014/main" id="{F72093D8-DBB9-CC63-BAF3-0671423658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855" y="932888"/>
            <a:ext cx="6228436" cy="4071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20743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2720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1525" y="428625"/>
            <a:ext cx="4602361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Route Tables do Transit Gateway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571500" y="1132284"/>
            <a:ext cx="3871913" cy="1685925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571500" y="1132284"/>
            <a:ext cx="3871913" cy="2857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00100" y="1360884"/>
            <a:ext cx="3414713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kern="0" spc="1" dirty="0">
                <a:solidFill>
                  <a:srgbClr val="3B82F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MECANISMO DE SAÍDA</a:t>
            </a:r>
            <a:endParaRPr lang="en-US" sz="8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1644848"/>
            <a:ext cx="178594" cy="14287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64419" y="1612702"/>
            <a:ext cx="992981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Association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800100" y="1948458"/>
            <a:ext cx="3414713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Define qual Route Table específica será utilizada por um anexo (VPC, VPN) para tomar decisões de roteamento de saída.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4700588" y="1132284"/>
            <a:ext cx="3871913" cy="1685925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4700588" y="1132284"/>
            <a:ext cx="3871913" cy="2857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4929188" y="1360884"/>
            <a:ext cx="3414713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kern="0" spc="1" dirty="0">
                <a:solidFill>
                  <a:srgbClr val="3B82F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MECANISMO DE ENTRADA</a:t>
            </a:r>
            <a:endParaRPr lang="en-US" sz="8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9188" y="1644848"/>
            <a:ext cx="160734" cy="14287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175647" y="1612702"/>
            <a:ext cx="1023342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Propagation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4929188" y="1948458"/>
            <a:ext cx="3414713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Permite que as rotas de um anexo sejam anunciadas automaticamente para uma ou mais Route Tables do Transit Gateway.</a:t>
            </a:r>
            <a:endParaRPr lang="en-US" sz="950" dirty="0"/>
          </a:p>
        </p:txBody>
      </p:sp>
      <p:sp>
        <p:nvSpPr>
          <p:cNvPr id="16" name="Text 11"/>
          <p:cNvSpPr/>
          <p:nvPr/>
        </p:nvSpPr>
        <p:spPr>
          <a:xfrm>
            <a:off x="571500" y="3575447"/>
            <a:ext cx="8001000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Poder da Segmentação:</a:t>
            </a:r>
            <a:endParaRPr lang="en-US" sz="12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982641"/>
            <a:ext cx="112514" cy="12858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98314" y="3954066"/>
            <a:ext cx="3702248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Isolamento de Ambientes</a:t>
            </a:r>
            <a:endParaRPr lang="en-US" sz="900" dirty="0"/>
          </a:p>
        </p:txBody>
      </p:sp>
      <p:sp>
        <p:nvSpPr>
          <p:cNvPr id="19" name="Text 13"/>
          <p:cNvSpPr/>
          <p:nvPr/>
        </p:nvSpPr>
        <p:spPr>
          <a:xfrm>
            <a:off x="798314" y="4138017"/>
            <a:ext cx="3702248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Separe completamente o tráfego de Produção do tráfego de Desenvolvimento.</a:t>
            </a:r>
            <a:endParaRPr lang="en-US" sz="85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3438" y="3982641"/>
            <a:ext cx="112514" cy="12858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870252" y="3954066"/>
            <a:ext cx="3702248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Segurança Granular</a:t>
            </a:r>
            <a:endParaRPr lang="en-US" sz="900" dirty="0"/>
          </a:p>
        </p:txBody>
      </p:sp>
      <p:sp>
        <p:nvSpPr>
          <p:cNvPr id="22" name="Text 15"/>
          <p:cNvSpPr/>
          <p:nvPr/>
        </p:nvSpPr>
        <p:spPr>
          <a:xfrm>
            <a:off x="4870252" y="4138017"/>
            <a:ext cx="3702248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Aplique o princípio do menor privilégio no nível de roteamento de rede.</a:t>
            </a:r>
            <a:endParaRPr lang="en-US" sz="85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698802"/>
            <a:ext cx="112514" cy="128588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798314" y="4670227"/>
            <a:ext cx="3702248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Flexibilidade de Rotas</a:t>
            </a:r>
            <a:endParaRPr lang="en-US" sz="900" dirty="0"/>
          </a:p>
        </p:txBody>
      </p:sp>
      <p:sp>
        <p:nvSpPr>
          <p:cNvPr id="25" name="Text 17"/>
          <p:cNvSpPr/>
          <p:nvPr/>
        </p:nvSpPr>
        <p:spPr>
          <a:xfrm>
            <a:off x="798314" y="4854178"/>
            <a:ext cx="3702248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Combine rotas estáticas e dinâmicas para arquiteturas híbridas complexas.</a:t>
            </a:r>
            <a:endParaRPr lang="en-US" sz="850" dirty="0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3438" y="4698802"/>
            <a:ext cx="112514" cy="128588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4870252" y="4670227"/>
            <a:ext cx="3548658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Escalabilidade de Rede</a:t>
            </a:r>
            <a:endParaRPr lang="en-US" sz="900" dirty="0"/>
          </a:p>
        </p:txBody>
      </p:sp>
      <p:sp>
        <p:nvSpPr>
          <p:cNvPr id="28" name="Text 19"/>
          <p:cNvSpPr/>
          <p:nvPr/>
        </p:nvSpPr>
        <p:spPr>
          <a:xfrm>
            <a:off x="4870252" y="4854178"/>
            <a:ext cx="3548658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Gerencie milhares de rotas de forma centralizada e automatizada.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1525" y="428625"/>
            <a:ext cx="4416623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Transit Gateway Peering Global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571500" y="1132284"/>
            <a:ext cx="3857625" cy="1814513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571500" y="1132284"/>
            <a:ext cx="3857625" cy="2857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85813" y="1346597"/>
            <a:ext cx="342900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3B82F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REGIÃO A (EX: SÃO PAULO)</a:t>
            </a:r>
            <a:endParaRPr lang="en-US" sz="7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813" y="1557338"/>
            <a:ext cx="171450" cy="1714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28700" y="1539478"/>
            <a:ext cx="111263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Hub Regional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785813" y="1860947"/>
            <a:ext cx="3429000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Conecta VPCs locais e ambientes on-premises da América Latina.</a:t>
            </a:r>
            <a:endParaRPr lang="en-US" sz="850" dirty="0"/>
          </a:p>
        </p:txBody>
      </p:sp>
      <p:sp>
        <p:nvSpPr>
          <p:cNvPr id="10" name="Shape 6"/>
          <p:cNvSpPr/>
          <p:nvPr/>
        </p:nvSpPr>
        <p:spPr>
          <a:xfrm>
            <a:off x="4714875" y="1418034"/>
            <a:ext cx="3857625" cy="1528763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4714875" y="1418034"/>
            <a:ext cx="3857625" cy="2857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4929188" y="1632347"/>
            <a:ext cx="342900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3B82F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REGIÃO B (EX: VIRGÍNIA)</a:t>
            </a:r>
            <a:endParaRPr lang="en-US" sz="7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9188" y="1843088"/>
            <a:ext cx="171450" cy="17145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172075" y="1825228"/>
            <a:ext cx="92333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Hub Global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4929188" y="2146697"/>
            <a:ext cx="3429000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Ponto central para serviços core e infraestrutura global nos EUA.</a:t>
            </a:r>
            <a:endParaRPr lang="en-US" sz="850" dirty="0"/>
          </a:p>
        </p:txBody>
      </p:sp>
      <p:sp>
        <p:nvSpPr>
          <p:cNvPr id="16" name="Shape 11"/>
          <p:cNvSpPr/>
          <p:nvPr/>
        </p:nvSpPr>
        <p:spPr>
          <a:xfrm>
            <a:off x="3829943" y="3111103"/>
            <a:ext cx="1484114" cy="1625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2"/>
          <p:cNvSpPr/>
          <p:nvPr/>
        </p:nvSpPr>
        <p:spPr>
          <a:xfrm>
            <a:off x="3829943" y="3111103"/>
            <a:ext cx="1484114" cy="162520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TGW PEERING (INTER-REGION)</a:t>
            </a:r>
            <a:endParaRPr lang="en-US" sz="6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804047"/>
            <a:ext cx="112514" cy="12858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91170" y="3775472"/>
            <a:ext cx="2304445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Disaster Recovery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791170" y="3966567"/>
            <a:ext cx="2304445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Facilita a replicação de dados e estratégias de failover entre regiões.</a:t>
            </a:r>
            <a:endParaRPr lang="en-US" sz="80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09928" y="3804047"/>
            <a:ext cx="112514" cy="12858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529599" y="3775472"/>
            <a:ext cx="2304445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Baixa Latência</a:t>
            </a:r>
            <a:endParaRPr lang="en-US" sz="900" dirty="0"/>
          </a:p>
        </p:txBody>
      </p:sp>
      <p:sp>
        <p:nvSpPr>
          <p:cNvPr id="23" name="Text 16"/>
          <p:cNvSpPr/>
          <p:nvPr/>
        </p:nvSpPr>
        <p:spPr>
          <a:xfrm>
            <a:off x="3529599" y="3966567"/>
            <a:ext cx="2304445" cy="2684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Tráfego utiliza o backbone privado da AWS, evitando a internet pública.</a:t>
            </a:r>
            <a:endParaRPr lang="en-US" sz="80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48356" y="3804047"/>
            <a:ext cx="112514" cy="128588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268027" y="3775472"/>
            <a:ext cx="2304473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Expansão Global</a:t>
            </a:r>
            <a:endParaRPr lang="en-US" sz="900" dirty="0"/>
          </a:p>
        </p:txBody>
      </p:sp>
      <p:sp>
        <p:nvSpPr>
          <p:cNvPr id="26" name="Text 18"/>
          <p:cNvSpPr/>
          <p:nvPr/>
        </p:nvSpPr>
        <p:spPr>
          <a:xfrm>
            <a:off x="6268027" y="3966567"/>
            <a:ext cx="2304473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Simplifica a conectividade de aplicações distribuídas mundialmente.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1525" y="428625"/>
            <a:ext cx="4577358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Boas Práticas e Recomendações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571500" y="1060847"/>
            <a:ext cx="1903809" cy="3018681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571500" y="1060847"/>
            <a:ext cx="1903809" cy="2857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" y="1241227"/>
            <a:ext cx="171450" cy="1714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00125" y="1232297"/>
            <a:ext cx="1187648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Design de Rede</a:t>
            </a:r>
            <a:endParaRPr lang="en-US" sz="11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950" y="1564481"/>
            <a:ext cx="62508" cy="651421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76895" y="1535906"/>
            <a:ext cx="1426964" cy="6799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Utilize múltiplas Route Tables para segmentar ambientes críticos (Prod vs Dev).</a:t>
            </a:r>
            <a:endParaRPr lang="en-US" sz="9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950" y="2330202"/>
            <a:ext cx="62508" cy="65142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76895" y="2301627"/>
            <a:ext cx="1426964" cy="6799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Planeje CIDRs cuidadosamente para evitar sobreposição de IPs entre VPCs.</a:t>
            </a:r>
            <a:endParaRPr lang="en-US" sz="9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2950" y="3095923"/>
            <a:ext cx="62508" cy="651421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876895" y="3067348"/>
            <a:ext cx="1426964" cy="6799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Centralize a conectividade em uma conta de Networking dedicada.</a:t>
            </a:r>
            <a:endParaRPr lang="en-US" sz="900" dirty="0"/>
          </a:p>
        </p:txBody>
      </p:sp>
      <p:sp>
        <p:nvSpPr>
          <p:cNvPr id="14" name="Shape 7"/>
          <p:cNvSpPr/>
          <p:nvPr/>
        </p:nvSpPr>
        <p:spPr>
          <a:xfrm>
            <a:off x="2603897" y="1060847"/>
            <a:ext cx="1903809" cy="3018681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8"/>
          <p:cNvSpPr/>
          <p:nvPr/>
        </p:nvSpPr>
        <p:spPr>
          <a:xfrm>
            <a:off x="2603897" y="1060847"/>
            <a:ext cx="1903809" cy="28575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75347" y="1335881"/>
            <a:ext cx="214313" cy="17145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3075384" y="1232297"/>
            <a:ext cx="1260872" cy="3786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Automação (IaC)</a:t>
            </a:r>
            <a:endParaRPr lang="en-US" sz="110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75347" y="1753791"/>
            <a:ext cx="62508" cy="651421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2909292" y="1725216"/>
            <a:ext cx="1426964" cy="6799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Terraform ou CloudFormation para garantir infraestrutura reproduzível.</a:t>
            </a:r>
            <a:endParaRPr lang="en-US" sz="900" dirty="0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75347" y="2519511"/>
            <a:ext cx="62508" cy="651421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2909292" y="2490936"/>
            <a:ext cx="1426964" cy="6799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Automatize a propagação de rotas para reduzir erros manuais.</a:t>
            </a:r>
            <a:endParaRPr lang="en-US" sz="900" dirty="0"/>
          </a:p>
        </p:txBody>
      </p:sp>
      <p:pic>
        <p:nvPicPr>
          <p:cNvPr id="22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775347" y="3285232"/>
            <a:ext cx="62508" cy="651421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2909292" y="3256657"/>
            <a:ext cx="1426964" cy="6799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Mantenha o código de rede versionado e auditável em repositórios Git.</a:t>
            </a:r>
            <a:endParaRPr lang="en-US" sz="900" dirty="0"/>
          </a:p>
        </p:txBody>
      </p:sp>
      <p:sp>
        <p:nvSpPr>
          <p:cNvPr id="24" name="Shape 13"/>
          <p:cNvSpPr/>
          <p:nvPr/>
        </p:nvSpPr>
        <p:spPr>
          <a:xfrm>
            <a:off x="4636294" y="1060847"/>
            <a:ext cx="1903809" cy="2990106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14"/>
          <p:cNvSpPr/>
          <p:nvPr/>
        </p:nvSpPr>
        <p:spPr>
          <a:xfrm>
            <a:off x="4636294" y="1060847"/>
            <a:ext cx="1903809" cy="28575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07744" y="1241227"/>
            <a:ext cx="192881" cy="171450"/>
          </a:xfrm>
          <a:prstGeom prst="rect">
            <a:avLst/>
          </a:prstGeom>
        </p:spPr>
      </p:pic>
      <p:sp>
        <p:nvSpPr>
          <p:cNvPr id="27" name="Text 15"/>
          <p:cNvSpPr/>
          <p:nvPr/>
        </p:nvSpPr>
        <p:spPr>
          <a:xfrm>
            <a:off x="5086350" y="1232297"/>
            <a:ext cx="1175147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Monitoramento</a:t>
            </a:r>
            <a:endParaRPr lang="en-US" sz="1100" dirty="0"/>
          </a:p>
        </p:txBody>
      </p:sp>
      <p:pic>
        <p:nvPicPr>
          <p:cNvPr id="28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807744" y="1564481"/>
            <a:ext cx="62508" cy="481422"/>
          </a:xfrm>
          <a:prstGeom prst="rect">
            <a:avLst/>
          </a:prstGeom>
        </p:spPr>
      </p:pic>
      <p:sp>
        <p:nvSpPr>
          <p:cNvPr id="29" name="Text 16"/>
          <p:cNvSpPr/>
          <p:nvPr/>
        </p:nvSpPr>
        <p:spPr>
          <a:xfrm>
            <a:off x="4941689" y="1535906"/>
            <a:ext cx="1426964" cy="509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Habilite Flow Logs no Transit Gateway para análise de tráfego.</a:t>
            </a:r>
            <a:endParaRPr lang="en-US" sz="900" dirty="0"/>
          </a:p>
        </p:txBody>
      </p:sp>
      <p:pic>
        <p:nvPicPr>
          <p:cNvPr id="30" name="Image 11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07744" y="2160203"/>
            <a:ext cx="62508" cy="651421"/>
          </a:xfrm>
          <a:prstGeom prst="rect">
            <a:avLst/>
          </a:prstGeom>
        </p:spPr>
      </p:pic>
      <p:sp>
        <p:nvSpPr>
          <p:cNvPr id="31" name="Text 17"/>
          <p:cNvSpPr/>
          <p:nvPr/>
        </p:nvSpPr>
        <p:spPr>
          <a:xfrm>
            <a:off x="4941689" y="2131628"/>
            <a:ext cx="1426964" cy="6799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Utilize CloudWatch Metrics para monitorar largura de banda e erros.</a:t>
            </a:r>
            <a:endParaRPr lang="en-US" sz="900" dirty="0"/>
          </a:p>
        </p:txBody>
      </p:sp>
      <p:pic>
        <p:nvPicPr>
          <p:cNvPr id="32" name="Image 1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07744" y="2925924"/>
            <a:ext cx="62508" cy="651421"/>
          </a:xfrm>
          <a:prstGeom prst="rect">
            <a:avLst/>
          </a:prstGeom>
        </p:spPr>
      </p:pic>
      <p:sp>
        <p:nvSpPr>
          <p:cNvPr id="33" name="Text 18"/>
          <p:cNvSpPr/>
          <p:nvPr/>
        </p:nvSpPr>
        <p:spPr>
          <a:xfrm>
            <a:off x="4941689" y="2897349"/>
            <a:ext cx="1426964" cy="6799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Audite todas as alterações de configuração via AWS CloudTrail.</a:t>
            </a:r>
            <a:endParaRPr lang="en-US" sz="900" dirty="0"/>
          </a:p>
        </p:txBody>
      </p:sp>
      <p:sp>
        <p:nvSpPr>
          <p:cNvPr id="34" name="Shape 19"/>
          <p:cNvSpPr/>
          <p:nvPr/>
        </p:nvSpPr>
        <p:spPr>
          <a:xfrm>
            <a:off x="6668691" y="1060847"/>
            <a:ext cx="1903809" cy="2990106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20"/>
          <p:cNvSpPr/>
          <p:nvPr/>
        </p:nvSpPr>
        <p:spPr>
          <a:xfrm>
            <a:off x="6668691" y="1060847"/>
            <a:ext cx="1903809" cy="2857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6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840141" y="1241227"/>
            <a:ext cx="171450" cy="171450"/>
          </a:xfrm>
          <a:prstGeom prst="rect">
            <a:avLst/>
          </a:prstGeom>
        </p:spPr>
      </p:pic>
      <p:sp>
        <p:nvSpPr>
          <p:cNvPr id="37" name="Text 21"/>
          <p:cNvSpPr/>
          <p:nvPr/>
        </p:nvSpPr>
        <p:spPr>
          <a:xfrm>
            <a:off x="7097316" y="1232297"/>
            <a:ext cx="832247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Segurança</a:t>
            </a:r>
            <a:endParaRPr lang="en-US" sz="1100" dirty="0"/>
          </a:p>
        </p:txBody>
      </p:sp>
      <p:pic>
        <p:nvPicPr>
          <p:cNvPr id="38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840141" y="1564481"/>
            <a:ext cx="62508" cy="481422"/>
          </a:xfrm>
          <a:prstGeom prst="rect">
            <a:avLst/>
          </a:prstGeom>
        </p:spPr>
      </p:pic>
      <p:sp>
        <p:nvSpPr>
          <p:cNvPr id="39" name="Text 22"/>
          <p:cNvSpPr/>
          <p:nvPr/>
        </p:nvSpPr>
        <p:spPr>
          <a:xfrm>
            <a:off x="6974086" y="1535906"/>
            <a:ext cx="1426964" cy="509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Aplique o Princípio do Menor Privilégio nas políticas do IAM e RAM.</a:t>
            </a:r>
            <a:endParaRPr lang="en-US" sz="900" dirty="0"/>
          </a:p>
        </p:txBody>
      </p:sp>
      <p:pic>
        <p:nvPicPr>
          <p:cNvPr id="40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840141" y="2160203"/>
            <a:ext cx="62508" cy="481422"/>
          </a:xfrm>
          <a:prstGeom prst="rect">
            <a:avLst/>
          </a:prstGeom>
        </p:spPr>
      </p:pic>
      <p:sp>
        <p:nvSpPr>
          <p:cNvPr id="41" name="Text 23"/>
          <p:cNvSpPr/>
          <p:nvPr/>
        </p:nvSpPr>
        <p:spPr>
          <a:xfrm>
            <a:off x="6974086" y="2131628"/>
            <a:ext cx="1426964" cy="509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Implemente Inspection VPCs para tráfego que exige firewall avançado.</a:t>
            </a:r>
            <a:endParaRPr lang="en-US" sz="900" dirty="0"/>
          </a:p>
        </p:txBody>
      </p:sp>
      <p:pic>
        <p:nvPicPr>
          <p:cNvPr id="42" name="Image 1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40141" y="2755925"/>
            <a:ext cx="62508" cy="651421"/>
          </a:xfrm>
          <a:prstGeom prst="rect">
            <a:avLst/>
          </a:prstGeom>
        </p:spPr>
      </p:pic>
      <p:sp>
        <p:nvSpPr>
          <p:cNvPr id="43" name="Text 24"/>
          <p:cNvSpPr/>
          <p:nvPr/>
        </p:nvSpPr>
        <p:spPr>
          <a:xfrm>
            <a:off x="6974086" y="2727350"/>
            <a:ext cx="1426964" cy="6799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Utilize SCPs para restringir a criação de TGWs fora da conta central.</a:t>
            </a:r>
            <a:endParaRPr lang="en-US" sz="900" dirty="0"/>
          </a:p>
        </p:txBody>
      </p:sp>
      <p:sp>
        <p:nvSpPr>
          <p:cNvPr id="44" name="Text 25"/>
          <p:cNvSpPr/>
          <p:nvPr/>
        </p:nvSpPr>
        <p:spPr>
          <a:xfrm>
            <a:off x="6075759" y="4736306"/>
            <a:ext cx="2496741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2" dirty="0">
                <a:solidFill>
                  <a:srgbClr val="3B82F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TECHWITHMARCOS • AWS NETWORKING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1525" y="428625"/>
            <a:ext cx="3846909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Resumo e Próximos Passos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571500" y="1203722"/>
            <a:ext cx="3786188" cy="3171825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571500" y="1203722"/>
            <a:ext cx="3786188" cy="2857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57250" y="1489472"/>
            <a:ext cx="3214688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kern="0" spc="1" dirty="0">
                <a:solidFill>
                  <a:srgbClr val="3B82F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 QUE APRENDEMOS</a:t>
            </a:r>
            <a:endParaRPr lang="en-US" sz="9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1816298"/>
            <a:ext cx="128588" cy="33145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92994" y="1787723"/>
            <a:ext cx="2978944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Simplificação radical da conectividade entre VPCs.</a:t>
            </a:r>
            <a:endParaRPr lang="en-US" sz="9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2319207"/>
            <a:ext cx="128588" cy="33145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92994" y="2290632"/>
            <a:ext cx="2978944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Escalabilidade para centenas de ambientes AWS.</a:t>
            </a:r>
            <a:endParaRPr lang="en-US" sz="9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2822116"/>
            <a:ext cx="128588" cy="15144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92994" y="2793541"/>
            <a:ext cx="2746772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Integração nativa com VPN e Direct Connect.</a:t>
            </a:r>
            <a:endParaRPr lang="en-US" sz="9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250" y="3145008"/>
            <a:ext cx="128588" cy="15144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092994" y="3116433"/>
            <a:ext cx="2555677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Controle granular via Route Tables e RAM.</a:t>
            </a:r>
            <a:endParaRPr lang="en-US" sz="95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7250" y="3467900"/>
            <a:ext cx="128588" cy="331459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092994" y="3439325"/>
            <a:ext cx="2978944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Facilitação de arquiteturas Multi-Account seguras.</a:t>
            </a:r>
            <a:endParaRPr lang="en-US" sz="950" dirty="0"/>
          </a:p>
        </p:txBody>
      </p:sp>
      <p:sp>
        <p:nvSpPr>
          <p:cNvPr id="17" name="Text 9"/>
          <p:cNvSpPr/>
          <p:nvPr/>
        </p:nvSpPr>
        <p:spPr>
          <a:xfrm>
            <a:off x="4786313" y="1203722"/>
            <a:ext cx="3786188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Explore mais:</a:t>
            </a:r>
            <a:endParaRPr lang="en-US" sz="140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86313" y="1696641"/>
            <a:ext cx="125016" cy="310753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5054203" y="1660922"/>
            <a:ext cx="271819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AWS Resource Access Manager (RAM)</a:t>
            </a:r>
            <a:endParaRPr lang="en-US" sz="1000" dirty="0"/>
          </a:p>
        </p:txBody>
      </p:sp>
      <p:sp>
        <p:nvSpPr>
          <p:cNvPr id="20" name="Text 11"/>
          <p:cNvSpPr/>
          <p:nvPr/>
        </p:nvSpPr>
        <p:spPr>
          <a:xfrm>
            <a:off x="5054203" y="1869877"/>
            <a:ext cx="2718197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Aprofunde-se no compartilhamento de recursos.</a:t>
            </a:r>
            <a:endParaRPr lang="en-US" sz="850" dirty="0"/>
          </a:p>
        </p:txBody>
      </p:sp>
      <p:pic>
        <p:nvPicPr>
          <p:cNvPr id="21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86313" y="2257425"/>
            <a:ext cx="125016" cy="310753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5054203" y="2221706"/>
            <a:ext cx="269319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AWS Cloud WAN</a:t>
            </a:r>
            <a:endParaRPr lang="en-US" sz="1000" dirty="0"/>
          </a:p>
        </p:txBody>
      </p:sp>
      <p:sp>
        <p:nvSpPr>
          <p:cNvPr id="23" name="Text 13"/>
          <p:cNvSpPr/>
          <p:nvPr/>
        </p:nvSpPr>
        <p:spPr>
          <a:xfrm>
            <a:off x="5054203" y="2430661"/>
            <a:ext cx="2693194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Conectividade global gerenciada em larga escala.</a:t>
            </a:r>
            <a:endParaRPr lang="en-US" sz="850" dirty="0"/>
          </a:p>
        </p:txBody>
      </p:sp>
      <p:pic>
        <p:nvPicPr>
          <p:cNvPr id="24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86313" y="2818209"/>
            <a:ext cx="125016" cy="310753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5054203" y="2782491"/>
            <a:ext cx="285035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AWS Network Firewall</a:t>
            </a:r>
            <a:endParaRPr lang="en-US" sz="1000" dirty="0"/>
          </a:p>
        </p:txBody>
      </p:sp>
      <p:sp>
        <p:nvSpPr>
          <p:cNvPr id="26" name="Text 15"/>
          <p:cNvSpPr/>
          <p:nvPr/>
        </p:nvSpPr>
        <p:spPr>
          <a:xfrm>
            <a:off x="5054203" y="2991445"/>
            <a:ext cx="2850356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Implemente segurança avançada na Inspection VPC.</a:t>
            </a:r>
            <a:endParaRPr lang="en-US" sz="850" dirty="0"/>
          </a:p>
        </p:txBody>
      </p:sp>
      <p:pic>
        <p:nvPicPr>
          <p:cNvPr id="27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86313" y="3378994"/>
            <a:ext cx="125016" cy="310753"/>
          </a:xfrm>
          <a:prstGeom prst="rect">
            <a:avLst/>
          </a:prstGeom>
        </p:spPr>
      </p:pic>
      <p:sp>
        <p:nvSpPr>
          <p:cNvPr id="28" name="Text 16"/>
          <p:cNvSpPr/>
          <p:nvPr/>
        </p:nvSpPr>
        <p:spPr>
          <a:xfrm>
            <a:off x="5054203" y="3343275"/>
            <a:ext cx="225742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AWS Organizations</a:t>
            </a:r>
            <a:endParaRPr lang="en-US" sz="1000" dirty="0"/>
          </a:p>
        </p:txBody>
      </p:sp>
      <p:sp>
        <p:nvSpPr>
          <p:cNvPr id="29" name="Text 17"/>
          <p:cNvSpPr/>
          <p:nvPr/>
        </p:nvSpPr>
        <p:spPr>
          <a:xfrm>
            <a:off x="5054203" y="3552230"/>
            <a:ext cx="2257425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Gestão centralizada de contas e políticas.</a:t>
            </a:r>
            <a:endParaRPr lang="en-US" sz="850" dirty="0"/>
          </a:p>
        </p:txBody>
      </p:sp>
      <p:sp>
        <p:nvSpPr>
          <p:cNvPr id="30" name="Text 18"/>
          <p:cNvSpPr/>
          <p:nvPr/>
        </p:nvSpPr>
        <p:spPr>
          <a:xfrm>
            <a:off x="3752254" y="4677370"/>
            <a:ext cx="1732359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endParaRPr lang="en-US" sz="1200" dirty="0"/>
          </a:p>
        </p:txBody>
      </p:sp>
      <p:grpSp>
        <p:nvGrpSpPr>
          <p:cNvPr id="35" name="Agrupar 34">
            <a:extLst>
              <a:ext uri="{FF2B5EF4-FFF2-40B4-BE49-F238E27FC236}">
                <a16:creationId xmlns:a16="http://schemas.microsoft.com/office/drawing/2014/main" id="{17AB9F1B-AC58-B965-EBC4-78676F597C18}"/>
              </a:ext>
            </a:extLst>
          </p:cNvPr>
          <p:cNvGrpSpPr/>
          <p:nvPr/>
        </p:nvGrpSpPr>
        <p:grpSpPr>
          <a:xfrm>
            <a:off x="3587055" y="4517326"/>
            <a:ext cx="1969889" cy="344710"/>
            <a:chOff x="3587055" y="4208366"/>
            <a:chExt cx="1969889" cy="344710"/>
          </a:xfrm>
        </p:grpSpPr>
        <p:sp>
          <p:nvSpPr>
            <p:cNvPr id="36" name="Shape 8">
              <a:extLst>
                <a:ext uri="{FF2B5EF4-FFF2-40B4-BE49-F238E27FC236}">
                  <a16:creationId xmlns:a16="http://schemas.microsoft.com/office/drawing/2014/main" id="{6BE773BE-2646-7FD7-8A01-2C33ABF11218}"/>
                </a:ext>
              </a:extLst>
            </p:cNvPr>
            <p:cNvSpPr/>
            <p:nvPr/>
          </p:nvSpPr>
          <p:spPr>
            <a:xfrm>
              <a:off x="3587055" y="4208366"/>
              <a:ext cx="1969889" cy="341114"/>
            </a:xfrm>
            <a:prstGeom prst="roundRect">
              <a:avLst/>
            </a:prstGeom>
            <a:solidFill>
              <a:srgbClr val="3B82F6">
                <a:alpha val="10000"/>
              </a:srgbClr>
            </a:solidFill>
            <a:ln w="9144">
              <a:solidFill>
                <a:srgbClr val="3B82F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 9">
              <a:extLst>
                <a:ext uri="{FF2B5EF4-FFF2-40B4-BE49-F238E27FC236}">
                  <a16:creationId xmlns:a16="http://schemas.microsoft.com/office/drawing/2014/main" id="{338D1074-991E-3891-F475-D4FEF7B05D96}"/>
                </a:ext>
              </a:extLst>
            </p:cNvPr>
            <p:cNvSpPr/>
            <p:nvPr/>
          </p:nvSpPr>
          <p:spPr>
            <a:xfrm>
              <a:off x="3587055" y="4208366"/>
              <a:ext cx="1969889" cy="344710"/>
            </a:xfrm>
            <a:prstGeom prst="rect">
              <a:avLst/>
            </a:prstGeom>
            <a:noFill/>
            <a:ln/>
          </p:spPr>
          <p:txBody>
            <a:bodyPr wrap="square" lIns="340233" tIns="102108" rIns="340233" bIns="102108" rtlCol="0" anchor="t">
              <a:spAutoFit/>
            </a:bodyPr>
            <a:lstStyle/>
            <a:p>
              <a:pPr marL="0" indent="0" algn="ctr">
                <a:buNone/>
              </a:pPr>
              <a:r>
                <a:rPr lang="en-US" sz="900" b="1" kern="0" spc="1" dirty="0">
                  <a:solidFill>
                    <a:srgbClr val="3B82F6"/>
                  </a:solidFill>
                  <a:latin typeface="Inter Bold" pitchFamily="34" charset="0"/>
                  <a:ea typeface="Inter Bold" pitchFamily="34" charset="-122"/>
                  <a:cs typeface="Inter Bold" pitchFamily="34" charset="-120"/>
                </a:rPr>
                <a:t>TECHWITHMARCOS</a:t>
              </a:r>
              <a:endParaRPr lang="en-US" sz="900" dirty="0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1115</Words>
  <Application>Microsoft Office PowerPoint</Application>
  <PresentationFormat>Apresentação na tela (16:9)</PresentationFormat>
  <Paragraphs>168</Paragraphs>
  <Slides>13</Slides>
  <Notes>13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8" baseType="lpstr">
      <vt:lpstr>Arial</vt:lpstr>
      <vt:lpstr>Inter</vt:lpstr>
      <vt:lpstr>Inter Bold</vt:lpstr>
      <vt:lpstr>Inter ExtraBold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Marcos Daniel Santos</cp:lastModifiedBy>
  <cp:revision>10</cp:revision>
  <dcterms:created xsi:type="dcterms:W3CDTF">2026-06-09T23:48:01Z</dcterms:created>
  <dcterms:modified xsi:type="dcterms:W3CDTF">2026-06-10T00:59:29Z</dcterms:modified>
</cp:coreProperties>
</file>